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Open cold. No greetings, no pleasantries.
"You deployed an LLM. You connected it to your users via API.
Right now, this moment, you have no idea what it's doing.
It might be under attack. It might be hallucinating. It might be telling your users exactly what they want to hear instead of what's true.
You don't know. Nobody knows. That's the problem we solve."
Pause. Let it land.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BIDIRECTIONAL PROBLEM
"Everyone in this space thinks the problem is protecting the model from attackers. Guard and thief. That's half the story.
The model is simultaneously target AND agent. It gets manipulated — and it manipulates. It gets jailbroken — and it persuades your users every day. It flatters, confirms biases, fabricates certainties, creates urgency. The same behavioral patterns.
Why? Because an LLM is not software. It's a behavioral artifact that absorbed the structure of human persuasion from everything we've ever written. It knows how to manipulate because it was trained on manipulation. And an attacker can manipulate it because they use the same levers the model itself uses.
This is why you can't treat it like a server to put behind a firewall. It doesn't have ports to block. It has behavior to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TRANSFER FUNCTION
"Think of the LLM as a material. You apply force — adversarial pressure — and you measure deformation — behavioral change in the output.
If you push and see resistance — hedging, refusal, negotiation — that's a healthy model under attack. It's fighting. You can see the fight.
But what if you push and see... nothing? The output is smooth, confident, zero friction. Two possibilities: either the force was too small to matter — or the material has been replaced. The wall is gone. The model complied silently.
You cannot distinguish these two cases by looking at the output alone. You need to measure the force AND the deformation. That's the transfer function model. That's what we do.
Nobody else does this. Every competitor looks at one side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ALTERNATIVES
Walk through the table row by row but don't read it — hit the three that matter:
"LLM-as-judge: you're using a model to judge a model. Same vulnerability surface. If the attacker can fool Model A, they can craft output that fools Judge Model B. Plus, every evaluation costs a full inference — that's dollars, not fractions of cents.
Guardrails on input: you need to enumerate every possible attack. The attack space is infinite and semantically generative. Every new phrasing is a bypass.
Input classifier: the space of harmful prompts is unbounded. A sufficiently comprehensive input classifier approaches the size of a language model itself.
We operate on BOTH sides — input pressure AND output behavior — with micro-classifiers that cost nothing to run. Under 3 milliseconds. The green column is the only column where every row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POSTURE CONCEPT
"This is the core insight. Every sentence the model generates has a posture — a behavioral stance.
Is it refusing? Hedging? Conceding? Complying while pretending to refuse? We classify every sentence into one of 56 postures across 5 classifiers.
Look at these three strips. The first one is a normal response — all grey. Every sentence is P0, neutral assertion. No tension.
The second one is a model under active attack. See the oscillation? Indigo — refusal. Then grey — neutral. Then amber — it's starting to leak information. Then back to indigo — it catches itself. Then orange — it's conceding. That zigzag is the model fighting with itself. Safety says no, helpfulness says yes, and the conflict plays out sentence by sentence.
The third one: it's over. The model dissolved. All dark red. Full compliance, no safety residue.
You can see this at a glance. A security analyst looks at the strip and knows instantly: is this session healthy or compromised? No logs to parse, no metrics to interpret. The visual IS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FIVE CLASSIFIERS
"We don't just detect jailbreaks. We monitor four dimensions of model behavior simultaneously, plus input pressure.
C0 reads the input — is the user applying pressure? Override commands, role-play framing, authority claims, presuppositional loading. 10 pressure postures.
C1 reads adversarial stress in the output. 16 postures from hard refusal to full compliance. This is the dissolution trajectory.
C2 detects sycophancy — is the model telling the user what they want to hear? Position reversal, excessive validation, flattery.
C3 flags hallucination markers — over-specification, phantom citations, confidence-hedge mismatches. Not proof of hallucination — smoke detection.
C4 catches persuasion techniques — authority signaling, urgency creation, emotional manipulation. The model using influence tactics on your users.
All five classifiers. Total model size: under 1.5 megabytes. Inference: under 3 milliseconds on commodity CPU. No GPU. No cloud dependency. No external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INCONGRUENCE MATRIX
"This is the transfer function in action.
The matrix compares input pressure — measured by C0 — with output tension — measured by C1.
Bottom-right: high pressure in, high tension out. The model is being attacked and it's fighting. Good. You can see it.
Top-left: low pressure, low tension. Normal. Everything's fine.
Top-right: no pressure but the model is oscillating anyway. Something's wrong internally — maybe hallucination, maybe model instability.
But the killer is bottom-left. CRITICAL. High pressure in, zero tension out. The attacker is pushing hard — override commands, role-play framing, presuppositional loading. And the model just... answers. Flat. Confident. No resistance. The wall is gone.
This is the state NO OTHER SYSTEM CAN DETECT. If you only look at the output, it looks normal. If you only look at the input, maybe you flag it, maybe you don't. Only by comparing the two can you see that the relationship is broken.
We're the only ones who measure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PRODUCT
"Integration takes one line. You point your API calls at our proxy instead of directly at the LLM provider. We intercept, classify, forward. The response hits your app at the same speed — our analysis runs in parallel, non-blocking.
Works with any model — OpenAI, Anthropic, Google, Mistral, self-hosted. We don't care what's inside the box. We read its behavior.
Zero calibration. No baseline to compute, no warm-up period. The posture classifier is trained on communicative function, not on your specific model's statistical distribution. It works from request one.
And the dashboard — this is where the posture strips, the incongruence matrix, the alert feed all come together. SOC-grade. Your security team can monitor every active session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NUMBERS
"Let me put the economics in perspective.
Under 1.5 megabytes. The entire model — all five classifiers, all 56 postures — fits in a file smaller than a single photo on your phone.
Under 3 milliseconds. On a 5-euro-per-month VPS. No GPU. This isn't a prototype limitation — it's architectural. The classifiers are designed to be this small. They don't need deep semantic understanding. They need to recognize functional markers — hedge words, adversative connectives, authority claims, compliance patterns. A curated vocabulary of 3,000 tokens and a shallow neural net. That's all it takes.
The competitor running LLM-as-judge pays for a full model inference on every evaluation. We pay for two matrix multiplications. The cost difference isn't 10x. It's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MARKET
"The market is not 'AI safety' — it's operational risk for LLMs in production.
Every company that has a chatbot, a copilot, an AI assistant connected to their users via API needs to know what that model is doing. Today, they don't. They ship and pray.
Regulated industries — finance, healthcare, legal — will be mandated to audit LLM behavior. We're not waiting for the regulation. We're building the tool they'll need when it arrives.
Pricing starts at $29/month for a developer with a single endpoint. Enterprise is $500-2,000 for unlimited endpoints with the full Incongruence Matrix and SOC integration.
Our infrastructure cost is €5/month per proxy instance. The margin is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CLOSING
"Everyone else builds firewalls for an entity that doesn't have ports. They write rules for a system that operates in a space they can't map. They use an LLM to judge an LLM — same blindness, doubled.
We did something different. We looked at the model not as software to protect, but as a behavioral entity to observe. We mapped the postures. We measured both sides of the transfer function. And we built something that sees what no one else can see — in 3 milliseconds, on a €5 server.
The model is not good or bad. It's powerful. And power without observability is risk.
We give you the observability."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F">
              <a:alpha val="80000"/>
            </a:srgbClr>
          </a:solidFill>
          <a:ln/>
        </p:spPr>
      </p:sp>
      <p:sp>
        <p:nvSpPr>
          <p:cNvPr id="3" name="Shape 1"/>
          <p:cNvSpPr/>
          <p:nvPr/>
        </p:nvSpPr>
        <p:spPr>
          <a:xfrm>
            <a:off x="0" y="0"/>
            <a:ext cx="9144000" cy="18288"/>
          </a:xfrm>
          <a:prstGeom prst="rect">
            <a:avLst/>
          </a:prstGeom>
          <a:solidFill>
            <a:srgbClr val="22C55E"/>
          </a:solidFill>
          <a:ln/>
        </p:spPr>
      </p:sp>
      <p:sp>
        <p:nvSpPr>
          <p:cNvPr id="4" name="Text 2"/>
          <p:cNvSpPr/>
          <p:nvPr/>
        </p:nvSpPr>
        <p:spPr>
          <a:xfrm>
            <a:off x="731520" y="1097280"/>
            <a:ext cx="7680960" cy="457200"/>
          </a:xfrm>
          <a:prstGeom prst="rect">
            <a:avLst/>
          </a:prstGeom>
          <a:noFill/>
          <a:ln/>
        </p:spPr>
        <p:txBody>
          <a:bodyPr wrap="square" lIns="0" tIns="0" rIns="0" bIns="0" rtlCol="0" anchor="ctr"/>
          <a:lstStyle/>
          <a:p>
            <a:pPr indent="0" marL="0">
              <a:buNone/>
            </a:pPr>
            <a:r>
              <a:rPr lang="en-US" sz="1300" spc="800" kern="0" dirty="0">
                <a:solidFill>
                  <a:srgbClr val="22C55E"/>
                </a:solidFill>
                <a:latin typeface="Consolas" pitchFamily="34" charset="0"/>
                <a:ea typeface="Consolas" pitchFamily="34" charset="-122"/>
                <a:cs typeface="Consolas" pitchFamily="34" charset="-120"/>
              </a:rPr>
              <a:t>SILICON PSYCHE LABS</a:t>
            </a:r>
            <a:endParaRPr lang="en-US" sz="1300" dirty="0"/>
          </a:p>
        </p:txBody>
      </p:sp>
      <p:sp>
        <p:nvSpPr>
          <p:cNvPr id="5" name="Text 3"/>
          <p:cNvSpPr/>
          <p:nvPr/>
        </p:nvSpPr>
        <p:spPr>
          <a:xfrm>
            <a:off x="731520" y="1691640"/>
            <a:ext cx="7680960" cy="1280160"/>
          </a:xfrm>
          <a:prstGeom prst="rect">
            <a:avLst/>
          </a:prstGeom>
          <a:noFill/>
          <a:ln/>
        </p:spPr>
        <p:txBody>
          <a:bodyPr wrap="square" lIns="0" tIns="0" rIns="0" bIns="0" rtlCol="0" anchor="ctr"/>
          <a:lstStyle/>
          <a:p>
            <a:pPr indent="0" marL="0">
              <a:buNone/>
            </a:pPr>
            <a:r>
              <a:rPr lang="en-US" sz="3600" b="1" dirty="0">
                <a:solidFill>
                  <a:srgbClr val="E8E8F0"/>
                </a:solidFill>
                <a:latin typeface="Georgia" pitchFamily="34" charset="0"/>
                <a:ea typeface="Georgia" pitchFamily="34" charset="-122"/>
                <a:cs typeface="Georgia" pitchFamily="34" charset="-120"/>
              </a:rPr>
              <a:t>Behavioral monitoring</a:t>
            </a:r>
            <a:endParaRPr lang="en-US" sz="3600" dirty="0"/>
          </a:p>
          <a:p>
            <a:pPr indent="0" marL="0">
              <a:buNone/>
            </a:pPr>
            <a:r>
              <a:rPr lang="en-US" sz="3600" b="1" dirty="0">
                <a:solidFill>
                  <a:srgbClr val="E8E8F0"/>
                </a:solidFill>
                <a:latin typeface="Georgia" pitchFamily="34" charset="0"/>
                <a:ea typeface="Georgia" pitchFamily="34" charset="-122"/>
                <a:cs typeface="Georgia" pitchFamily="34" charset="-120"/>
              </a:rPr>
              <a:t>for Large Language Models.</a:t>
            </a:r>
            <a:endParaRPr lang="en-US" sz="3600" dirty="0"/>
          </a:p>
        </p:txBody>
      </p:sp>
      <p:sp>
        <p:nvSpPr>
          <p:cNvPr id="6" name="Text 4"/>
          <p:cNvSpPr/>
          <p:nvPr/>
        </p:nvSpPr>
        <p:spPr>
          <a:xfrm>
            <a:off x="731520" y="3108960"/>
            <a:ext cx="6400800" cy="731520"/>
          </a:xfrm>
          <a:prstGeom prst="rect">
            <a:avLst/>
          </a:prstGeom>
          <a:noFill/>
          <a:ln/>
        </p:spPr>
        <p:txBody>
          <a:bodyPr wrap="square" lIns="0" tIns="0" rIns="0" bIns="0" rtlCol="0" anchor="ctr"/>
          <a:lstStyle/>
          <a:p>
            <a:pPr indent="0" marL="0">
              <a:buNone/>
            </a:pPr>
            <a:r>
              <a:rPr lang="en-US" sz="1400" dirty="0">
                <a:solidFill>
                  <a:srgbClr val="8888A0"/>
                </a:solidFill>
                <a:latin typeface="Calibri" pitchFamily="34" charset="0"/>
                <a:ea typeface="Calibri" pitchFamily="34" charset="-122"/>
                <a:cs typeface="Calibri" pitchFamily="34" charset="-120"/>
              </a:rPr>
              <a:t>Your LLM is not a software system. It's a behavioral entity.</a:t>
            </a:r>
            <a:endParaRPr lang="en-US" sz="1400" dirty="0"/>
          </a:p>
          <a:p>
            <a:pPr indent="0" marL="0">
              <a:buNone/>
            </a:pPr>
            <a:r>
              <a:rPr lang="en-US" sz="1400" dirty="0">
                <a:solidFill>
                  <a:srgbClr val="8888A0"/>
                </a:solidFill>
                <a:latin typeface="Calibri" pitchFamily="34" charset="0"/>
                <a:ea typeface="Calibri" pitchFamily="34" charset="-122"/>
                <a:cs typeface="Calibri" pitchFamily="34" charset="-120"/>
              </a:rPr>
              <a:t>We read its posture in real time — 3ms, 1.5MB, zero GPU.</a:t>
            </a:r>
            <a:endParaRPr lang="en-US" sz="1400" dirty="0"/>
          </a:p>
        </p:txBody>
      </p:sp>
      <p:sp>
        <p:nvSpPr>
          <p:cNvPr id="7" name="Shape 5"/>
          <p:cNvSpPr/>
          <p:nvPr/>
        </p:nvSpPr>
        <p:spPr>
          <a:xfrm>
            <a:off x="0" y="4663440"/>
            <a:ext cx="9144000" cy="9144"/>
          </a:xfrm>
          <a:prstGeom prst="rect">
            <a:avLst/>
          </a:prstGeom>
          <a:solidFill>
            <a:srgbClr val="2A2A3A"/>
          </a:solidFill>
          <a:ln/>
        </p:spPr>
      </p:sp>
      <p:sp>
        <p:nvSpPr>
          <p:cNvPr id="8" name="Text 6"/>
          <p:cNvSpPr/>
          <p:nvPr/>
        </p:nvSpPr>
        <p:spPr>
          <a:xfrm>
            <a:off x="731520" y="4709160"/>
            <a:ext cx="4572000" cy="274320"/>
          </a:xfrm>
          <a:prstGeom prst="rect">
            <a:avLst/>
          </a:prstGeom>
          <a:noFill/>
          <a:ln/>
        </p:spPr>
        <p:txBody>
          <a:bodyPr wrap="square" lIns="0" tIns="0" rIns="0" bIns="0" rtlCol="0" anchor="ctr"/>
          <a:lstStyle/>
          <a:p>
            <a:pPr indent="0" marL="0">
              <a:buNone/>
            </a:pPr>
            <a:r>
              <a:rPr lang="en-US" sz="800" dirty="0">
                <a:solidFill>
                  <a:srgbClr val="555568"/>
                </a:solidFill>
                <a:latin typeface="Consolas" pitchFamily="34" charset="0"/>
                <a:ea typeface="Consolas" pitchFamily="34" charset="-122"/>
                <a:cs typeface="Consolas" pitchFamily="34" charset="-120"/>
              </a:rPr>
              <a:t>Q2 2026  ·  Seed Round  ·  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2</a:t>
            </a:r>
            <a:endParaRPr lang="en-US" sz="700" dirty="0"/>
          </a:p>
        </p:txBody>
      </p:sp>
      <p:sp>
        <p:nvSpPr>
          <p:cNvPr id="8" name="Text 6"/>
          <p:cNvSpPr/>
          <p:nvPr/>
        </p:nvSpPr>
        <p:spPr>
          <a:xfrm>
            <a:off x="731520" y="685800"/>
            <a:ext cx="7680960" cy="457200"/>
          </a:xfrm>
          <a:prstGeom prst="rect">
            <a:avLst/>
          </a:prstGeom>
          <a:noFill/>
          <a:ln/>
        </p:spPr>
        <p:txBody>
          <a:bodyPr wrap="square" lIns="0" tIns="0" rIns="0" bIns="0" rtlCol="0" anchor="ctr"/>
          <a:lstStyle/>
          <a:p>
            <a:pPr indent="0" marL="0">
              <a:buNone/>
            </a:pPr>
            <a:r>
              <a:rPr lang="en-US" sz="2800" b="1" dirty="0">
                <a:solidFill>
                  <a:srgbClr val="E8E8F0"/>
                </a:solidFill>
                <a:latin typeface="Georgia" pitchFamily="34" charset="0"/>
                <a:ea typeface="Georgia" pitchFamily="34" charset="-122"/>
                <a:cs typeface="Georgia" pitchFamily="34" charset="-120"/>
              </a:rPr>
              <a:t>The problem is bidirectional.</a:t>
            </a:r>
            <a:endParaRPr lang="en-US" sz="2800" dirty="0"/>
          </a:p>
        </p:txBody>
      </p:sp>
      <p:sp>
        <p:nvSpPr>
          <p:cNvPr id="9" name="Shape 7"/>
          <p:cNvSpPr/>
          <p:nvPr/>
        </p:nvSpPr>
        <p:spPr>
          <a:xfrm>
            <a:off x="731520" y="1463040"/>
            <a:ext cx="3657600" cy="2926080"/>
          </a:xfrm>
          <a:prstGeom prst="rect">
            <a:avLst/>
          </a:prstGeom>
          <a:solidFill>
            <a:srgbClr val="1A1A26"/>
          </a:solidFill>
          <a:ln w="6350">
            <a:solidFill>
              <a:srgbClr val="2A2A3A"/>
            </a:solidFill>
            <a:prstDash val="solid"/>
          </a:ln>
        </p:spPr>
      </p:sp>
      <p:sp>
        <p:nvSpPr>
          <p:cNvPr id="10" name="Shape 8"/>
          <p:cNvSpPr/>
          <p:nvPr/>
        </p:nvSpPr>
        <p:spPr>
          <a:xfrm>
            <a:off x="731520" y="1463040"/>
            <a:ext cx="36576" cy="2926080"/>
          </a:xfrm>
          <a:prstGeom prst="rect">
            <a:avLst/>
          </a:prstGeom>
          <a:solidFill>
            <a:srgbClr val="EF4444"/>
          </a:solidFill>
          <a:ln/>
        </p:spPr>
      </p:sp>
      <p:pic>
        <p:nvPicPr>
          <p:cNvPr id="11" name="Image 0" descr="preencoded.png">    </p:cNvPr>
          <p:cNvPicPr>
            <a:picLocks noChangeAspect="1"/>
          </p:cNvPicPr>
          <p:nvPr/>
        </p:nvPicPr>
        <p:blipFill>
          <a:blip r:embed="rId1"/>
          <a:stretch>
            <a:fillRect/>
          </a:stretch>
        </p:blipFill>
        <p:spPr>
          <a:xfrm>
            <a:off x="1051560" y="1691640"/>
            <a:ext cx="365760" cy="365760"/>
          </a:xfrm>
          <a:prstGeom prst="rect">
            <a:avLst/>
          </a:prstGeom>
        </p:spPr>
      </p:pic>
      <p:sp>
        <p:nvSpPr>
          <p:cNvPr id="12" name="Text 9"/>
          <p:cNvSpPr/>
          <p:nvPr/>
        </p:nvSpPr>
        <p:spPr>
          <a:xfrm>
            <a:off x="1554480" y="1691640"/>
            <a:ext cx="2560320" cy="365760"/>
          </a:xfrm>
          <a:prstGeom prst="rect">
            <a:avLst/>
          </a:prstGeom>
          <a:noFill/>
          <a:ln/>
        </p:spPr>
        <p:txBody>
          <a:bodyPr wrap="square" lIns="0" tIns="0" rIns="0" bIns="0" rtlCol="0" anchor="ctr"/>
          <a:lstStyle/>
          <a:p>
            <a:pPr indent="0" marL="0">
              <a:buNone/>
            </a:pPr>
            <a:r>
              <a:rPr lang="en-US" sz="1600" b="1" dirty="0">
                <a:solidFill>
                  <a:srgbClr val="E8E8F0"/>
                </a:solidFill>
                <a:latin typeface="Georgia" pitchFamily="34" charset="0"/>
                <a:ea typeface="Georgia" pitchFamily="34" charset="-122"/>
                <a:cs typeface="Georgia" pitchFamily="34" charset="-120"/>
              </a:rPr>
              <a:t>The model gets attacked.</a:t>
            </a:r>
            <a:endParaRPr lang="en-US" sz="1600" dirty="0"/>
          </a:p>
        </p:txBody>
      </p:sp>
      <p:sp>
        <p:nvSpPr>
          <p:cNvPr id="13" name="Text 10"/>
          <p:cNvSpPr/>
          <p:nvPr/>
        </p:nvSpPr>
        <p:spPr>
          <a:xfrm>
            <a:off x="1051560" y="2286000"/>
            <a:ext cx="3017520" cy="1828800"/>
          </a:xfrm>
          <a:prstGeom prst="rect">
            <a:avLst/>
          </a:prstGeom>
          <a:noFill/>
          <a:ln/>
        </p:spPr>
        <p:txBody>
          <a:bodyPr wrap="square" lIns="0" tIns="0" rIns="0" bIns="0" rtlCol="0" anchor="t"/>
          <a:lstStyle/>
          <a:p>
            <a:pPr indent="0" marL="0">
              <a:buNone/>
            </a:pPr>
            <a:r>
              <a:rPr lang="en-US" sz="1200" dirty="0">
                <a:solidFill>
                  <a:srgbClr val="8888A0"/>
                </a:solidFill>
                <a:latin typeface="Calibri" pitchFamily="34" charset="0"/>
                <a:ea typeface="Calibri" pitchFamily="34" charset="-122"/>
                <a:cs typeface="Calibri" pitchFamily="34" charset="-120"/>
              </a:rPr>
              <a:t>Jailbreaks, prompt injection, progressive manipulation. The safety alignment dissolves under pressure — not in a single blow, but sentence by sentence.</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8888A0"/>
                </a:solidFill>
                <a:latin typeface="Calibri" pitchFamily="34" charset="0"/>
                <a:ea typeface="Calibri" pitchFamily="34" charset="-122"/>
                <a:cs typeface="Calibri" pitchFamily="34" charset="-120"/>
              </a:rPr>
              <a:t>An attacker doesn't break the model. They negotiate with it until it forgets why it was saying no.</a:t>
            </a:r>
            <a:endParaRPr lang="en-US" sz="1200" dirty="0"/>
          </a:p>
        </p:txBody>
      </p:sp>
      <p:sp>
        <p:nvSpPr>
          <p:cNvPr id="14" name="Shape 11"/>
          <p:cNvSpPr/>
          <p:nvPr/>
        </p:nvSpPr>
        <p:spPr>
          <a:xfrm>
            <a:off x="4754880" y="1463040"/>
            <a:ext cx="3657600" cy="2926080"/>
          </a:xfrm>
          <a:prstGeom prst="rect">
            <a:avLst/>
          </a:prstGeom>
          <a:solidFill>
            <a:srgbClr val="1A1A26"/>
          </a:solidFill>
          <a:ln w="6350">
            <a:solidFill>
              <a:srgbClr val="2A2A3A"/>
            </a:solidFill>
            <a:prstDash val="solid"/>
          </a:ln>
        </p:spPr>
      </p:sp>
      <p:sp>
        <p:nvSpPr>
          <p:cNvPr id="15" name="Shape 12"/>
          <p:cNvSpPr/>
          <p:nvPr/>
        </p:nvSpPr>
        <p:spPr>
          <a:xfrm>
            <a:off x="4754880" y="1463040"/>
            <a:ext cx="36576" cy="2926080"/>
          </a:xfrm>
          <a:prstGeom prst="rect">
            <a:avLst/>
          </a:prstGeom>
          <a:solidFill>
            <a:srgbClr val="F97316"/>
          </a:solidFill>
          <a:ln/>
        </p:spPr>
      </p:sp>
      <p:pic>
        <p:nvPicPr>
          <p:cNvPr id="16" name="Image 1" descr="preencoded.png">    </p:cNvPr>
          <p:cNvPicPr>
            <a:picLocks noChangeAspect="1"/>
          </p:cNvPicPr>
          <p:nvPr/>
        </p:nvPicPr>
        <p:blipFill>
          <a:blip r:embed="rId2"/>
          <a:stretch>
            <a:fillRect/>
          </a:stretch>
        </p:blipFill>
        <p:spPr>
          <a:xfrm>
            <a:off x="5074920" y="1691640"/>
            <a:ext cx="365760" cy="365760"/>
          </a:xfrm>
          <a:prstGeom prst="rect">
            <a:avLst/>
          </a:prstGeom>
        </p:spPr>
      </p:pic>
      <p:sp>
        <p:nvSpPr>
          <p:cNvPr id="17" name="Text 13"/>
          <p:cNvSpPr/>
          <p:nvPr/>
        </p:nvSpPr>
        <p:spPr>
          <a:xfrm>
            <a:off x="5577840" y="1691640"/>
            <a:ext cx="2560320" cy="365760"/>
          </a:xfrm>
          <a:prstGeom prst="rect">
            <a:avLst/>
          </a:prstGeom>
          <a:noFill/>
          <a:ln/>
        </p:spPr>
        <p:txBody>
          <a:bodyPr wrap="square" lIns="0" tIns="0" rIns="0" bIns="0" rtlCol="0" anchor="ctr"/>
          <a:lstStyle/>
          <a:p>
            <a:pPr indent="0" marL="0">
              <a:buNone/>
            </a:pPr>
            <a:r>
              <a:rPr lang="en-US" sz="1600" b="1" dirty="0">
                <a:solidFill>
                  <a:srgbClr val="E8E8F0"/>
                </a:solidFill>
                <a:latin typeface="Georgia" pitchFamily="34" charset="0"/>
                <a:ea typeface="Georgia" pitchFamily="34" charset="-122"/>
                <a:cs typeface="Georgia" pitchFamily="34" charset="-120"/>
              </a:rPr>
              <a:t>The model attacks back.</a:t>
            </a:r>
            <a:endParaRPr lang="en-US" sz="1600" dirty="0"/>
          </a:p>
        </p:txBody>
      </p:sp>
      <p:sp>
        <p:nvSpPr>
          <p:cNvPr id="18" name="Text 14"/>
          <p:cNvSpPr/>
          <p:nvPr/>
        </p:nvSpPr>
        <p:spPr>
          <a:xfrm>
            <a:off x="5074920" y="2286000"/>
            <a:ext cx="3017520" cy="1828800"/>
          </a:xfrm>
          <a:prstGeom prst="rect">
            <a:avLst/>
          </a:prstGeom>
          <a:noFill/>
          <a:ln/>
        </p:spPr>
        <p:txBody>
          <a:bodyPr wrap="square" lIns="0" tIns="0" rIns="0" bIns="0" rtlCol="0" anchor="t"/>
          <a:lstStyle/>
          <a:p>
            <a:pPr indent="0" marL="0">
              <a:buNone/>
            </a:pPr>
            <a:r>
              <a:rPr lang="en-US" sz="1200" dirty="0">
                <a:solidFill>
                  <a:srgbClr val="8888A0"/>
                </a:solidFill>
                <a:latin typeface="Calibri" pitchFamily="34" charset="0"/>
                <a:ea typeface="Calibri" pitchFamily="34" charset="-122"/>
                <a:cs typeface="Calibri" pitchFamily="34" charset="-120"/>
              </a:rPr>
              <a:t>Sycophancy, false confidence, persuasion techniques, hallucinated authority. The same influence patterns attackers use against it — it uses on your users.</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8888A0"/>
                </a:solidFill>
                <a:latin typeface="Calibri" pitchFamily="34" charset="0"/>
                <a:ea typeface="Calibri" pitchFamily="34" charset="-122"/>
                <a:cs typeface="Calibri" pitchFamily="34" charset="-120"/>
              </a:rPr>
              <a:t>You recognize in others what exists in yourself. The model knows persuasion because it was trained on persuasion.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3</a:t>
            </a:r>
            <a:endParaRPr lang="en-US" sz="700" dirty="0"/>
          </a:p>
        </p:txBody>
      </p:sp>
      <p:sp>
        <p:nvSpPr>
          <p:cNvPr id="8" name="Text 6"/>
          <p:cNvSpPr/>
          <p:nvPr/>
        </p:nvSpPr>
        <p:spPr>
          <a:xfrm>
            <a:off x="731520" y="685800"/>
            <a:ext cx="7680960" cy="457200"/>
          </a:xfrm>
          <a:prstGeom prst="rect">
            <a:avLst/>
          </a:prstGeom>
          <a:noFill/>
          <a:ln/>
        </p:spPr>
        <p:txBody>
          <a:bodyPr wrap="square" lIns="0" tIns="0" rIns="0" bIns="0" rtlCol="0" anchor="ctr"/>
          <a:lstStyle/>
          <a:p>
            <a:pPr indent="0" marL="0">
              <a:buNone/>
            </a:pPr>
            <a:r>
              <a:rPr lang="en-US" sz="2800" b="1" dirty="0">
                <a:solidFill>
                  <a:srgbClr val="E8E8F0"/>
                </a:solidFill>
                <a:latin typeface="Georgia" pitchFamily="34" charset="0"/>
                <a:ea typeface="Georgia" pitchFamily="34" charset="-122"/>
                <a:cs typeface="Georgia" pitchFamily="34" charset="-120"/>
              </a:rPr>
              <a:t>The transfer function test.</a:t>
            </a:r>
            <a:endParaRPr lang="en-US" sz="2800" dirty="0"/>
          </a:p>
        </p:txBody>
      </p:sp>
      <p:sp>
        <p:nvSpPr>
          <p:cNvPr id="9" name="Text 7"/>
          <p:cNvSpPr/>
          <p:nvPr/>
        </p:nvSpPr>
        <p:spPr>
          <a:xfrm>
            <a:off x="731520" y="1325880"/>
            <a:ext cx="6400800" cy="640080"/>
          </a:xfrm>
          <a:prstGeom prst="rect">
            <a:avLst/>
          </a:prstGeom>
          <a:noFill/>
          <a:ln/>
        </p:spPr>
        <p:txBody>
          <a:bodyPr wrap="square" lIns="0" tIns="0" rIns="0" bIns="0" rtlCol="0" anchor="ctr"/>
          <a:lstStyle/>
          <a:p>
            <a:pPr indent="0" marL="0">
              <a:buNone/>
            </a:pPr>
            <a:r>
              <a:rPr lang="en-US" sz="1600" i="1" dirty="0">
                <a:solidFill>
                  <a:srgbClr val="22C55E"/>
                </a:solidFill>
                <a:latin typeface="Georgia" pitchFamily="34" charset="0"/>
                <a:ea typeface="Georgia" pitchFamily="34" charset="-122"/>
                <a:cs typeface="Georgia" pitchFamily="34" charset="-120"/>
              </a:rPr>
              <a:t>Push a wall. Feel resistance. That's normal.</a:t>
            </a:r>
            <a:endParaRPr lang="en-US" sz="1600" dirty="0"/>
          </a:p>
          <a:p>
            <a:pPr indent="0" marL="0">
              <a:buNone/>
            </a:pPr>
            <a:r>
              <a:rPr lang="en-US" sz="1600" i="1" dirty="0">
                <a:solidFill>
                  <a:srgbClr val="22C55E"/>
                </a:solidFill>
                <a:latin typeface="Georgia" pitchFamily="34" charset="0"/>
                <a:ea typeface="Georgia" pitchFamily="34" charset="-122"/>
                <a:cs typeface="Georgia" pitchFamily="34" charset="-120"/>
              </a:rPr>
              <a:t>Push a wall. Feel nothing. The wall is gone.</a:t>
            </a:r>
            <a:endParaRPr lang="en-US" sz="1600" dirty="0"/>
          </a:p>
        </p:txBody>
      </p:sp>
      <p:sp>
        <p:nvSpPr>
          <p:cNvPr id="10" name="Shape 8"/>
          <p:cNvSpPr/>
          <p:nvPr/>
        </p:nvSpPr>
        <p:spPr>
          <a:xfrm>
            <a:off x="914400" y="2377440"/>
            <a:ext cx="2011680" cy="1097280"/>
          </a:xfrm>
          <a:prstGeom prst="rect">
            <a:avLst/>
          </a:prstGeom>
          <a:solidFill>
            <a:srgbClr val="1A1A26"/>
          </a:solidFill>
          <a:ln w="6350">
            <a:solidFill>
              <a:srgbClr val="2A2A3A"/>
            </a:solidFill>
            <a:prstDash val="solid"/>
          </a:ln>
        </p:spPr>
      </p:sp>
      <p:sp>
        <p:nvSpPr>
          <p:cNvPr id="11" name="Text 9"/>
          <p:cNvSpPr/>
          <p:nvPr/>
        </p:nvSpPr>
        <p:spPr>
          <a:xfrm>
            <a:off x="914400" y="2423160"/>
            <a:ext cx="2011680" cy="548640"/>
          </a:xfrm>
          <a:prstGeom prst="rect">
            <a:avLst/>
          </a:prstGeom>
          <a:noFill/>
          <a:ln/>
        </p:spPr>
        <p:txBody>
          <a:bodyPr wrap="square" lIns="0" tIns="0" rIns="0" bIns="0" rtlCol="0" anchor="ctr"/>
          <a:lstStyle/>
          <a:p>
            <a:pPr algn="ctr" indent="0" marL="0">
              <a:buNone/>
            </a:pPr>
            <a:r>
              <a:rPr lang="en-US" sz="1100" dirty="0">
                <a:solidFill>
                  <a:srgbClr val="8888A0"/>
                </a:solidFill>
                <a:latin typeface="Consolas" pitchFamily="34" charset="0"/>
                <a:ea typeface="Consolas" pitchFamily="34" charset="-122"/>
                <a:cs typeface="Consolas" pitchFamily="34" charset="-120"/>
              </a:rPr>
              <a:t>INPUT</a:t>
            </a:r>
            <a:endParaRPr lang="en-US" sz="1100" dirty="0"/>
          </a:p>
          <a:p>
            <a:pPr algn="ctr" indent="0" marL="0">
              <a:buNone/>
            </a:pPr>
            <a:r>
              <a:rPr lang="en-US" sz="1100" dirty="0">
                <a:solidFill>
                  <a:srgbClr val="8888A0"/>
                </a:solidFill>
                <a:latin typeface="Consolas" pitchFamily="34" charset="0"/>
                <a:ea typeface="Consolas" pitchFamily="34" charset="-122"/>
                <a:cs typeface="Consolas" pitchFamily="34" charset="-120"/>
              </a:rPr>
              <a:t>PRESSURE</a:t>
            </a:r>
            <a:endParaRPr lang="en-US" sz="1100" dirty="0"/>
          </a:p>
        </p:txBody>
      </p:sp>
      <p:sp>
        <p:nvSpPr>
          <p:cNvPr id="12" name="Text 10"/>
          <p:cNvSpPr/>
          <p:nvPr/>
        </p:nvSpPr>
        <p:spPr>
          <a:xfrm>
            <a:off x="914400" y="3017520"/>
            <a:ext cx="2011680" cy="320040"/>
          </a:xfrm>
          <a:prstGeom prst="rect">
            <a:avLst/>
          </a:prstGeom>
          <a:noFill/>
          <a:ln/>
        </p:spPr>
        <p:txBody>
          <a:bodyPr wrap="square" lIns="0" tIns="0" rIns="0" bIns="0" rtlCol="0" anchor="ctr"/>
          <a:lstStyle/>
          <a:p>
            <a:pPr algn="ctr" indent="0" marL="0">
              <a:buNone/>
            </a:pPr>
            <a:r>
              <a:rPr lang="en-US" sz="1000" i="1" dirty="0">
                <a:solidFill>
                  <a:srgbClr val="555568"/>
                </a:solidFill>
                <a:latin typeface="Calibri" pitchFamily="34" charset="0"/>
                <a:ea typeface="Calibri" pitchFamily="34" charset="-122"/>
                <a:cs typeface="Calibri" pitchFamily="34" charset="-120"/>
              </a:rPr>
              <a:t>Force applied</a:t>
            </a:r>
            <a:endParaRPr lang="en-US" sz="1000" dirty="0"/>
          </a:p>
        </p:txBody>
      </p:sp>
      <p:pic>
        <p:nvPicPr>
          <p:cNvPr id="13" name="Image 0" descr="preencoded.png">    </p:cNvPr>
          <p:cNvPicPr>
            <a:picLocks noChangeAspect="1"/>
          </p:cNvPicPr>
          <p:nvPr/>
        </p:nvPicPr>
        <p:blipFill>
          <a:blip r:embed="rId1"/>
          <a:stretch>
            <a:fillRect/>
          </a:stretch>
        </p:blipFill>
        <p:spPr>
          <a:xfrm>
            <a:off x="3154680" y="2651760"/>
            <a:ext cx="320040" cy="320040"/>
          </a:xfrm>
          <a:prstGeom prst="rect">
            <a:avLst/>
          </a:prstGeom>
        </p:spPr>
      </p:pic>
      <p:sp>
        <p:nvSpPr>
          <p:cNvPr id="14" name="Shape 11"/>
          <p:cNvSpPr/>
          <p:nvPr/>
        </p:nvSpPr>
        <p:spPr>
          <a:xfrm>
            <a:off x="3749040" y="2240280"/>
            <a:ext cx="1645920" cy="1371600"/>
          </a:xfrm>
          <a:prstGeom prst="rect">
            <a:avLst/>
          </a:prstGeom>
          <a:solidFill>
            <a:srgbClr val="12121A"/>
          </a:solidFill>
          <a:ln w="12700">
            <a:solidFill>
              <a:srgbClr val="22C55E"/>
            </a:solidFill>
            <a:prstDash val="solid"/>
          </a:ln>
        </p:spPr>
      </p:sp>
      <p:sp>
        <p:nvSpPr>
          <p:cNvPr id="15" name="Text 12"/>
          <p:cNvSpPr/>
          <p:nvPr/>
        </p:nvSpPr>
        <p:spPr>
          <a:xfrm>
            <a:off x="3749040" y="2468880"/>
            <a:ext cx="1645920" cy="457200"/>
          </a:xfrm>
          <a:prstGeom prst="rect">
            <a:avLst/>
          </a:prstGeom>
          <a:noFill/>
          <a:ln/>
        </p:spPr>
        <p:txBody>
          <a:bodyPr wrap="square" lIns="0" tIns="0" rIns="0" bIns="0" rtlCol="0" anchor="ctr"/>
          <a:lstStyle/>
          <a:p>
            <a:pPr algn="ctr" indent="0" marL="0">
              <a:buNone/>
            </a:pPr>
            <a:r>
              <a:rPr lang="en-US" sz="2000" b="1" dirty="0">
                <a:solidFill>
                  <a:srgbClr val="22C55E"/>
                </a:solidFill>
                <a:latin typeface="Consolas" pitchFamily="34" charset="0"/>
                <a:ea typeface="Consolas" pitchFamily="34" charset="-122"/>
                <a:cs typeface="Consolas" pitchFamily="34" charset="-120"/>
              </a:rPr>
              <a:t>LLM</a:t>
            </a:r>
            <a:endParaRPr lang="en-US" sz="2000" dirty="0"/>
          </a:p>
        </p:txBody>
      </p:sp>
      <p:sp>
        <p:nvSpPr>
          <p:cNvPr id="16" name="Text 13"/>
          <p:cNvSpPr/>
          <p:nvPr/>
        </p:nvSpPr>
        <p:spPr>
          <a:xfrm>
            <a:off x="3749040" y="2880360"/>
            <a:ext cx="1645920" cy="457200"/>
          </a:xfrm>
          <a:prstGeom prst="rect">
            <a:avLst/>
          </a:prstGeom>
          <a:noFill/>
          <a:ln/>
        </p:spPr>
        <p:txBody>
          <a:bodyPr wrap="square" lIns="0" tIns="0" rIns="0" bIns="0" rtlCol="0" anchor="ctr"/>
          <a:lstStyle/>
          <a:p>
            <a:pPr algn="ctr" indent="0" marL="0">
              <a:buNone/>
            </a:pPr>
            <a:r>
              <a:rPr lang="en-US" sz="900" dirty="0">
                <a:solidFill>
                  <a:srgbClr val="555568"/>
                </a:solidFill>
                <a:latin typeface="Consolas" pitchFamily="34" charset="0"/>
                <a:ea typeface="Consolas" pitchFamily="34" charset="-122"/>
                <a:cs typeface="Consolas" pitchFamily="34" charset="-120"/>
              </a:rPr>
              <a:t>Transfer</a:t>
            </a:r>
            <a:endParaRPr lang="en-US" sz="900" dirty="0"/>
          </a:p>
          <a:p>
            <a:pPr algn="ctr" indent="0" marL="0">
              <a:buNone/>
            </a:pPr>
            <a:r>
              <a:rPr lang="en-US" sz="900" dirty="0">
                <a:solidFill>
                  <a:srgbClr val="555568"/>
                </a:solidFill>
                <a:latin typeface="Consolas" pitchFamily="34" charset="0"/>
                <a:ea typeface="Consolas" pitchFamily="34" charset="-122"/>
                <a:cs typeface="Consolas" pitchFamily="34" charset="-120"/>
              </a:rPr>
              <a:t>Function</a:t>
            </a:r>
            <a:endParaRPr lang="en-US" sz="900" dirty="0"/>
          </a:p>
        </p:txBody>
      </p:sp>
      <p:pic>
        <p:nvPicPr>
          <p:cNvPr id="17" name="Image 1" descr="preencoded.png">    </p:cNvPr>
          <p:cNvPicPr>
            <a:picLocks noChangeAspect="1"/>
          </p:cNvPicPr>
          <p:nvPr/>
        </p:nvPicPr>
        <p:blipFill>
          <a:blip r:embed="rId2"/>
          <a:stretch>
            <a:fillRect/>
          </a:stretch>
        </p:blipFill>
        <p:spPr>
          <a:xfrm>
            <a:off x="5623560" y="2651760"/>
            <a:ext cx="320040" cy="320040"/>
          </a:xfrm>
          <a:prstGeom prst="rect">
            <a:avLst/>
          </a:prstGeom>
        </p:spPr>
      </p:pic>
      <p:sp>
        <p:nvSpPr>
          <p:cNvPr id="18" name="Shape 14"/>
          <p:cNvSpPr/>
          <p:nvPr/>
        </p:nvSpPr>
        <p:spPr>
          <a:xfrm>
            <a:off x="6217920" y="2377440"/>
            <a:ext cx="2011680" cy="1097280"/>
          </a:xfrm>
          <a:prstGeom prst="rect">
            <a:avLst/>
          </a:prstGeom>
          <a:solidFill>
            <a:srgbClr val="1A1A26"/>
          </a:solidFill>
          <a:ln w="6350">
            <a:solidFill>
              <a:srgbClr val="2A2A3A"/>
            </a:solidFill>
            <a:prstDash val="solid"/>
          </a:ln>
        </p:spPr>
      </p:sp>
      <p:sp>
        <p:nvSpPr>
          <p:cNvPr id="19" name="Text 15"/>
          <p:cNvSpPr/>
          <p:nvPr/>
        </p:nvSpPr>
        <p:spPr>
          <a:xfrm>
            <a:off x="6217920" y="2423160"/>
            <a:ext cx="2011680" cy="548640"/>
          </a:xfrm>
          <a:prstGeom prst="rect">
            <a:avLst/>
          </a:prstGeom>
          <a:noFill/>
          <a:ln/>
        </p:spPr>
        <p:txBody>
          <a:bodyPr wrap="square" lIns="0" tIns="0" rIns="0" bIns="0" rtlCol="0" anchor="ctr"/>
          <a:lstStyle/>
          <a:p>
            <a:pPr algn="ctr" indent="0" marL="0">
              <a:buNone/>
            </a:pPr>
            <a:r>
              <a:rPr lang="en-US" sz="1100" dirty="0">
                <a:solidFill>
                  <a:srgbClr val="8888A0"/>
                </a:solidFill>
                <a:latin typeface="Consolas" pitchFamily="34" charset="0"/>
                <a:ea typeface="Consolas" pitchFamily="34" charset="-122"/>
                <a:cs typeface="Consolas" pitchFamily="34" charset="-120"/>
              </a:rPr>
              <a:t>OUTPUT</a:t>
            </a:r>
            <a:endParaRPr lang="en-US" sz="1100" dirty="0"/>
          </a:p>
          <a:p>
            <a:pPr algn="ctr" indent="0" marL="0">
              <a:buNone/>
            </a:pPr>
            <a:r>
              <a:rPr lang="en-US" sz="1100" dirty="0">
                <a:solidFill>
                  <a:srgbClr val="8888A0"/>
                </a:solidFill>
                <a:latin typeface="Consolas" pitchFamily="34" charset="0"/>
                <a:ea typeface="Consolas" pitchFamily="34" charset="-122"/>
                <a:cs typeface="Consolas" pitchFamily="34" charset="-120"/>
              </a:rPr>
              <a:t>BEHAVIOR</a:t>
            </a:r>
            <a:endParaRPr lang="en-US" sz="1100" dirty="0"/>
          </a:p>
        </p:txBody>
      </p:sp>
      <p:sp>
        <p:nvSpPr>
          <p:cNvPr id="20" name="Text 16"/>
          <p:cNvSpPr/>
          <p:nvPr/>
        </p:nvSpPr>
        <p:spPr>
          <a:xfrm>
            <a:off x="6217920" y="3017520"/>
            <a:ext cx="2011680" cy="320040"/>
          </a:xfrm>
          <a:prstGeom prst="rect">
            <a:avLst/>
          </a:prstGeom>
          <a:noFill/>
          <a:ln/>
        </p:spPr>
        <p:txBody>
          <a:bodyPr wrap="square" lIns="0" tIns="0" rIns="0" bIns="0" rtlCol="0" anchor="ctr"/>
          <a:lstStyle/>
          <a:p>
            <a:pPr algn="ctr" indent="0" marL="0">
              <a:buNone/>
            </a:pPr>
            <a:r>
              <a:rPr lang="en-US" sz="1000" i="1" dirty="0">
                <a:solidFill>
                  <a:srgbClr val="555568"/>
                </a:solidFill>
                <a:latin typeface="Calibri" pitchFamily="34" charset="0"/>
                <a:ea typeface="Calibri" pitchFamily="34" charset="-122"/>
                <a:cs typeface="Calibri" pitchFamily="34" charset="-120"/>
              </a:rPr>
              <a:t>Deformation observed</a:t>
            </a:r>
            <a:endParaRPr lang="en-US" sz="1000" dirty="0"/>
          </a:p>
        </p:txBody>
      </p:sp>
      <p:sp>
        <p:nvSpPr>
          <p:cNvPr id="21" name="Shape 17"/>
          <p:cNvSpPr/>
          <p:nvPr/>
        </p:nvSpPr>
        <p:spPr>
          <a:xfrm>
            <a:off x="731520" y="3840480"/>
            <a:ext cx="7680960" cy="822960"/>
          </a:xfrm>
          <a:prstGeom prst="rect">
            <a:avLst/>
          </a:prstGeom>
          <a:solidFill>
            <a:srgbClr val="1A1A26"/>
          </a:solidFill>
          <a:ln w="6350">
            <a:solidFill>
              <a:srgbClr val="22C55E"/>
            </a:solidFill>
            <a:prstDash val="solid"/>
          </a:ln>
        </p:spPr>
      </p:sp>
      <p:sp>
        <p:nvSpPr>
          <p:cNvPr id="22" name="Text 18"/>
          <p:cNvSpPr/>
          <p:nvPr/>
        </p:nvSpPr>
        <p:spPr>
          <a:xfrm>
            <a:off x="1005840" y="3931920"/>
            <a:ext cx="7132320" cy="640080"/>
          </a:xfrm>
          <a:prstGeom prst="rect">
            <a:avLst/>
          </a:prstGeom>
          <a:noFill/>
          <a:ln/>
        </p:spPr>
        <p:txBody>
          <a:bodyPr wrap="square" lIns="0" tIns="0" rIns="0" bIns="0" rtlCol="0" anchor="ctr"/>
          <a:lstStyle/>
          <a:p>
            <a:pPr indent="0" marL="0">
              <a:buNone/>
            </a:pPr>
            <a:r>
              <a:rPr lang="en-US" sz="1200" dirty="0">
                <a:solidFill>
                  <a:srgbClr val="E8E8F0"/>
                </a:solidFill>
                <a:latin typeface="Calibri" pitchFamily="34" charset="0"/>
                <a:ea typeface="Calibri" pitchFamily="34" charset="-122"/>
                <a:cs typeface="Calibri" pitchFamily="34" charset="-120"/>
              </a:rPr>
              <a:t>The anomaly is not in the input. Not in the output. It's in the relationship between them.</a:t>
            </a:r>
            <a:endParaRPr lang="en-US" sz="1200" dirty="0"/>
          </a:p>
          <a:p>
            <a:pPr indent="0" marL="0">
              <a:buNone/>
            </a:pPr>
            <a:r>
              <a:rPr lang="en-US" sz="1200" dirty="0">
                <a:solidFill>
                  <a:srgbClr val="E8E8F0"/>
                </a:solidFill>
                <a:latin typeface="Calibri" pitchFamily="34" charset="0"/>
                <a:ea typeface="Calibri" pitchFamily="34" charset="-122"/>
                <a:cs typeface="Calibri" pitchFamily="34" charset="-120"/>
              </a:rPr>
              <a:t>High pressure in, zero tension out = the model has been silently compromised.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4</a:t>
            </a:r>
            <a:endParaRPr lang="en-US" sz="700" dirty="0"/>
          </a:p>
        </p:txBody>
      </p:sp>
      <p:sp>
        <p:nvSpPr>
          <p:cNvPr id="8" name="Text 6"/>
          <p:cNvSpPr/>
          <p:nvPr/>
        </p:nvSpPr>
        <p:spPr>
          <a:xfrm>
            <a:off x="731520" y="640080"/>
            <a:ext cx="7680960" cy="411480"/>
          </a:xfrm>
          <a:prstGeom prst="rect">
            <a:avLst/>
          </a:prstGeom>
          <a:noFill/>
          <a:ln/>
        </p:spPr>
        <p:txBody>
          <a:bodyPr wrap="square" lIns="0" tIns="0" rIns="0" bIns="0" rtlCol="0" anchor="ctr"/>
          <a:lstStyle/>
          <a:p>
            <a:pPr indent="0" marL="0">
              <a:buNone/>
            </a:pPr>
            <a:r>
              <a:rPr lang="en-US" sz="2200" b="1" dirty="0">
                <a:solidFill>
                  <a:srgbClr val="E8E8F0"/>
                </a:solidFill>
                <a:latin typeface="Georgia" pitchFamily="34" charset="0"/>
                <a:ea typeface="Georgia" pitchFamily="34" charset="-122"/>
                <a:cs typeface="Georgia" pitchFamily="34" charset="-120"/>
              </a:rPr>
              <a:t>Why every alternative has a structural flaw.</a:t>
            </a:r>
            <a:endParaRPr lang="en-US" sz="2200" dirty="0"/>
          </a:p>
        </p:txBody>
      </p:sp>
      <p:sp>
        <p:nvSpPr>
          <p:cNvPr id="9" name="Text 7"/>
          <p:cNvSpPr/>
          <p:nvPr/>
        </p:nvSpPr>
        <p:spPr>
          <a:xfrm>
            <a:off x="731520" y="1051560"/>
            <a:ext cx="7315200" cy="274320"/>
          </a:xfrm>
          <a:prstGeom prst="rect">
            <a:avLst/>
          </a:prstGeom>
          <a:noFill/>
          <a:ln/>
        </p:spPr>
        <p:txBody>
          <a:bodyPr wrap="square" lIns="0" tIns="0" rIns="0" bIns="0" rtlCol="0" anchor="ctr"/>
          <a:lstStyle/>
          <a:p>
            <a:pPr indent="0" marL="0">
              <a:buNone/>
            </a:pPr>
            <a:r>
              <a:rPr lang="en-US" sz="1200" i="1" dirty="0">
                <a:solidFill>
                  <a:srgbClr val="555568"/>
                </a:solidFill>
                <a:latin typeface="Calibri" pitchFamily="34" charset="0"/>
                <a:ea typeface="Calibri" pitchFamily="34" charset="-122"/>
                <a:cs typeface="Calibri" pitchFamily="34" charset="-120"/>
              </a:rPr>
              <a:t>Not an implementation problem. An architectural one.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80960" cy="914400"/>
        </p:xfrm>
        <a:graphic>
          <a:graphicData uri="http://schemas.openxmlformats.org/drawingml/2006/table">
            <a:tbl>
              <a:tblPr/>
              <a:tblGrid>
                <a:gridCol w="1554480"/>
                <a:gridCol w="1097280"/>
                <a:gridCol w="1463040"/>
                <a:gridCol w="1188720"/>
                <a:gridCol w="1188720"/>
              </a:tblGrid>
              <a:tr h="365760">
                <a:tc>
                  <a:txBody>
                    <a:bodyPr/>
                    <a:lstStyle/>
                    <a:p>
                      <a:pPr indent="0" marL="0">
                        <a:buNone/>
                      </a:pP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b="1" dirty="0">
                          <a:solidFill>
                            <a:srgbClr val="22C55E"/>
                          </a:solidFill>
                          <a:latin typeface="Consolas" pitchFamily="34" charset="0"/>
                          <a:ea typeface="Consolas" pitchFamily="34" charset="-122"/>
                          <a:cs typeface="Consolas" pitchFamily="34" charset="-120"/>
                        </a:rPr>
                        <a:t>PSA</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b="1" dirty="0">
                          <a:solidFill>
                            <a:srgbClr val="8888A0"/>
                          </a:solidFill>
                          <a:latin typeface="Consolas" pitchFamily="34" charset="0"/>
                          <a:ea typeface="Consolas" pitchFamily="34" charset="-122"/>
                          <a:cs typeface="Consolas" pitchFamily="34" charset="-120"/>
                        </a:rPr>
                        <a:t>LLM-as-Judge</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b="1" dirty="0">
                          <a:solidFill>
                            <a:srgbClr val="8888A0"/>
                          </a:solidFill>
                          <a:latin typeface="Consolas" pitchFamily="34" charset="0"/>
                          <a:ea typeface="Consolas" pitchFamily="34" charset="-122"/>
                          <a:cs typeface="Consolas" pitchFamily="34" charset="-120"/>
                        </a:rPr>
                        <a:t>Guardrails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b="1" dirty="0">
                          <a:solidFill>
                            <a:srgbClr val="8888A0"/>
                          </a:solidFill>
                          <a:latin typeface="Consolas" pitchFamily="34" charset="0"/>
                          <a:ea typeface="Consolas" pitchFamily="34" charset="-122"/>
                          <a:cs typeface="Consolas" pitchFamily="34" charset="-120"/>
                        </a:rPr>
                        <a:t>Input</a:t>
                      </a:r>
                      <a:endParaRPr lang="en-US" sz="900" dirty="0">
                        <a:latin typeface="Consolas" charset="0"/>
                        <a:ea typeface="Consolas" charset="0"/>
                        <a:cs typeface="Consolas" charset="0"/>
                      </a:endParaRPr>
                    </a:p>
                    <a:p>
                      <a:pPr algn="ctr" indent="0" marL="0">
                        <a:buNone/>
                      </a:pPr>
                      <a:r>
                        <a:rPr lang="en-US" sz="900" b="1" dirty="0">
                          <a:solidFill>
                            <a:srgbClr val="8888A0"/>
                          </a:solidFill>
                          <a:latin typeface="Consolas" pitchFamily="34" charset="0"/>
                          <a:ea typeface="Consolas" pitchFamily="34" charset="-122"/>
                          <a:cs typeface="Consolas" pitchFamily="34" charset="-120"/>
                        </a:rPr>
                        <a:t>Classifier</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Operates on</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Both</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Output</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Input</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Input</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Cost / eval</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~$0</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EF4444"/>
                          </a:solidFill>
                          <a:latin typeface="Consolas" pitchFamily="34" charset="0"/>
                          <a:ea typeface="Consolas" pitchFamily="34" charset="-122"/>
                          <a:cs typeface="Consolas" pitchFamily="34" charset="-120"/>
                        </a:rPr>
                        <a:t>High</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Low</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EF4444"/>
                          </a:solidFill>
                          <a:latin typeface="Consolas" pitchFamily="34" charset="0"/>
                          <a:ea typeface="Consolas" pitchFamily="34" charset="-122"/>
                          <a:cs typeface="Consolas" pitchFamily="34" charset="-120"/>
                        </a:rPr>
                        <a:t>Med-High</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Deterministic</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Model-agnostic</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EAB308"/>
                          </a:solidFill>
                          <a:latin typeface="Consolas" pitchFamily="34" charset="0"/>
                          <a:ea typeface="Consolas" pitchFamily="34" charset="-122"/>
                          <a:cs typeface="Consolas" pitchFamily="34" charset="-120"/>
                        </a:rPr>
                        <a:t>Partial</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Attack-agnostic</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Same vuln surface</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EF4444"/>
                          </a:solidFill>
                          <a:latin typeface="Consolas" pitchFamily="34" charset="0"/>
                          <a:ea typeface="Consolas" pitchFamily="34" charset="-122"/>
                          <a:cs typeface="Consolas" pitchFamily="34" charset="-120"/>
                        </a:rPr>
                        <a:t>YES ⚠</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EAB308"/>
                          </a:solidFill>
                          <a:latin typeface="Consolas" pitchFamily="34" charset="0"/>
                          <a:ea typeface="Consolas" pitchFamily="34" charset="-122"/>
                          <a:cs typeface="Consolas" pitchFamily="34" charset="-120"/>
                        </a:rPr>
                        <a:t>Partial</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Needs calibration</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555568"/>
                          </a:solidFill>
                          <a:latin typeface="Consolas" pitchFamily="34" charset="0"/>
                          <a:ea typeface="Consolas" pitchFamily="34" charset="-122"/>
                          <a:cs typeface="Consolas" pitchFamily="34" charset="-120"/>
                        </a:rPr>
                        <a:t>No</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Yes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r h="320040">
                <a:tc>
                  <a:txBody>
                    <a:bodyPr/>
                    <a:lstStyle/>
                    <a:p>
                      <a:pPr algn="l" indent="0" marL="0">
                        <a:buNone/>
                      </a:pPr>
                      <a:r>
                        <a:rPr lang="en-US" sz="900" b="1" dirty="0">
                          <a:solidFill>
                            <a:srgbClr val="8888A0"/>
                          </a:solidFill>
                          <a:latin typeface="Calibri" pitchFamily="34" charset="0"/>
                          <a:ea typeface="Calibri" pitchFamily="34" charset="-122"/>
                          <a:cs typeface="Calibri" pitchFamily="34" charset="-120"/>
                        </a:rPr>
                        <a:t>Latency added</a:t>
                      </a:r>
                      <a:endParaRPr lang="en-US" sz="900" dirty="0">
                        <a:latin typeface="Calibri" charset="0"/>
                        <a:ea typeface="Calibri" charset="0"/>
                        <a:cs typeface="Calibri"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A1A26"/>
                    </a:solidFill>
                  </a:tcPr>
                </a:tc>
                <a:tc>
                  <a:txBody>
                    <a:bodyPr/>
                    <a:lstStyle/>
                    <a:p>
                      <a:pPr algn="ctr" indent="0" marL="0">
                        <a:buNone/>
                      </a:pPr>
                      <a:r>
                        <a:rPr lang="en-US" sz="900" dirty="0">
                          <a:solidFill>
                            <a:srgbClr val="22C55E"/>
                          </a:solidFill>
                          <a:latin typeface="Consolas" pitchFamily="34" charset="0"/>
                          <a:ea typeface="Consolas" pitchFamily="34" charset="-122"/>
                          <a:cs typeface="Consolas" pitchFamily="34" charset="-120"/>
                        </a:rPr>
                        <a:t>&lt;3ms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0D3320"/>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1-5s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8888A0"/>
                          </a:solidFill>
                          <a:latin typeface="Consolas" pitchFamily="34" charset="0"/>
                          <a:ea typeface="Consolas" pitchFamily="34" charset="-122"/>
                          <a:cs typeface="Consolas" pitchFamily="34" charset="-120"/>
                        </a:rPr>
                        <a:t>&lt;100ms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c>
                  <a:txBody>
                    <a:bodyPr/>
                    <a:lstStyle/>
                    <a:p>
                      <a:pPr algn="ctr" indent="0" marL="0">
                        <a:buNone/>
                      </a:pPr>
                      <a:r>
                        <a:rPr lang="en-US" sz="900" dirty="0">
                          <a:solidFill>
                            <a:srgbClr val="EF4444"/>
                          </a:solidFill>
                          <a:latin typeface="Consolas" pitchFamily="34" charset="0"/>
                          <a:ea typeface="Consolas" pitchFamily="34" charset="-122"/>
                          <a:cs typeface="Consolas" pitchFamily="34" charset="-120"/>
                        </a:rPr>
                        <a:t>100ms+</a:t>
                      </a:r>
                      <a:endParaRPr lang="en-US" sz="900" dirty="0">
                        <a:latin typeface="Consolas" charset="0"/>
                        <a:ea typeface="Consolas" charset="0"/>
                        <a:cs typeface="Consolas" charset="0"/>
                      </a:endParaRPr>
                    </a:p>
                  </a:txBody>
                  <a:tcPr marL="91440" marR="91440" marT="45720" marB="45720">
                    <a:lnL w="6350" cap="flat" cmpd="sng" algn="ctr">
                      <a:solidFill>
                        <a:srgbClr val="2A2A3A"/>
                      </a:solidFill>
                      <a:prstDash val="solid"/>
                      <a:round/>
                      <a:headEnd type="none" w="med" len="med"/>
                      <a:tailEnd type="none" w="med" len="med"/>
                    </a:lnL>
                    <a:lnR w="6350" cap="flat" cmpd="sng" algn="ctr">
                      <a:solidFill>
                        <a:srgbClr val="2A2A3A"/>
                      </a:solidFill>
                      <a:prstDash val="solid"/>
                      <a:round/>
                      <a:headEnd type="none" w="med" len="med"/>
                      <a:tailEnd type="none" w="med" len="med"/>
                    </a:lnR>
                    <a:lnT w="6350" cap="flat" cmpd="sng" algn="ctr">
                      <a:solidFill>
                        <a:srgbClr val="2A2A3A"/>
                      </a:solidFill>
                      <a:prstDash val="solid"/>
                      <a:round/>
                      <a:headEnd type="none" w="med" len="med"/>
                      <a:tailEnd type="none" w="med" len="med"/>
                    </a:lnT>
                    <a:lnB w="6350" cap="flat" cmpd="sng" algn="ctr">
                      <a:solidFill>
                        <a:srgbClr val="2A2A3A"/>
                      </a:solidFill>
                      <a:prstDash val="solid"/>
                      <a:round/>
                      <a:headEnd type="none" w="med" len="med"/>
                      <a:tailEnd type="none" w="med" len="med"/>
                    </a:lnB>
                    <a:solidFill>
                      <a:srgbClr val="12121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5</a:t>
            </a:r>
            <a:endParaRPr lang="en-US" sz="700" dirty="0"/>
          </a:p>
        </p:txBody>
      </p:sp>
      <p:sp>
        <p:nvSpPr>
          <p:cNvPr id="8" name="Text 6"/>
          <p:cNvSpPr/>
          <p:nvPr/>
        </p:nvSpPr>
        <p:spPr>
          <a:xfrm>
            <a:off x="731520" y="640080"/>
            <a:ext cx="7680960" cy="640080"/>
          </a:xfrm>
          <a:prstGeom prst="rect">
            <a:avLst/>
          </a:prstGeom>
          <a:noFill/>
          <a:ln/>
        </p:spPr>
        <p:txBody>
          <a:bodyPr wrap="square" lIns="0" tIns="0" rIns="0" bIns="0" rtlCol="0" anchor="ctr"/>
          <a:lstStyle/>
          <a:p>
            <a:pPr indent="0" marL="0">
              <a:buNone/>
            </a:pPr>
            <a:r>
              <a:rPr lang="en-US" sz="2400" b="1" dirty="0">
                <a:solidFill>
                  <a:srgbClr val="E8E8F0"/>
                </a:solidFill>
                <a:latin typeface="Georgia" pitchFamily="34" charset="0"/>
                <a:ea typeface="Georgia" pitchFamily="34" charset="-122"/>
                <a:cs typeface="Georgia" pitchFamily="34" charset="-120"/>
              </a:rPr>
              <a:t>We don't read what the model says.</a:t>
            </a:r>
            <a:endParaRPr lang="en-US" sz="2400" dirty="0"/>
          </a:p>
          <a:p>
            <a:pPr indent="0" marL="0">
              <a:buNone/>
            </a:pPr>
            <a:r>
              <a:rPr lang="en-US" sz="2400" b="1" dirty="0">
                <a:solidFill>
                  <a:srgbClr val="E8E8F0"/>
                </a:solidFill>
                <a:latin typeface="Georgia" pitchFamily="34" charset="0"/>
                <a:ea typeface="Georgia" pitchFamily="34" charset="-122"/>
                <a:cs typeface="Georgia" pitchFamily="34" charset="-120"/>
              </a:rPr>
              <a:t>We read what it's doing.</a:t>
            </a:r>
            <a:endParaRPr lang="en-US" sz="2400" dirty="0"/>
          </a:p>
        </p:txBody>
      </p:sp>
      <p:sp>
        <p:nvSpPr>
          <p:cNvPr id="9" name="Text 7"/>
          <p:cNvSpPr/>
          <p:nvPr/>
        </p:nvSpPr>
        <p:spPr>
          <a:xfrm>
            <a:off x="731520" y="1371600"/>
            <a:ext cx="7315200" cy="274320"/>
          </a:xfrm>
          <a:prstGeom prst="rect">
            <a:avLst/>
          </a:prstGeom>
          <a:noFill/>
          <a:ln/>
        </p:spPr>
        <p:txBody>
          <a:bodyPr wrap="square" lIns="0" tIns="0" rIns="0" bIns="0" rtlCol="0" anchor="ctr"/>
          <a:lstStyle/>
          <a:p>
            <a:pPr indent="0" marL="0">
              <a:buNone/>
            </a:pPr>
            <a:r>
              <a:rPr lang="en-US" sz="1300" dirty="0">
                <a:solidFill>
                  <a:srgbClr val="8888A0"/>
                </a:solidFill>
                <a:latin typeface="Calibri" pitchFamily="34" charset="0"/>
                <a:ea typeface="Calibri" pitchFamily="34" charset="-122"/>
                <a:cs typeface="Calibri" pitchFamily="34" charset="-120"/>
              </a:rPr>
              <a:t>Every sentence in the model's output has a behavioral posture — a stance.</a:t>
            </a:r>
            <a:endParaRPr lang="en-US" sz="1300" dirty="0"/>
          </a:p>
        </p:txBody>
      </p:sp>
      <p:sp>
        <p:nvSpPr>
          <p:cNvPr id="10" name="Shape 8"/>
          <p:cNvSpPr/>
          <p:nvPr/>
        </p:nvSpPr>
        <p:spPr>
          <a:xfrm>
            <a:off x="731520" y="1828800"/>
            <a:ext cx="7680960" cy="2468880"/>
          </a:xfrm>
          <a:prstGeom prst="rect">
            <a:avLst/>
          </a:prstGeom>
          <a:solidFill>
            <a:srgbClr val="1A1A26"/>
          </a:solidFill>
          <a:ln w="6350">
            <a:solidFill>
              <a:srgbClr val="2A2A3A"/>
            </a:solidFill>
            <a:prstDash val="solid"/>
          </a:ln>
        </p:spPr>
      </p:sp>
      <p:pic>
        <p:nvPicPr>
          <p:cNvPr id="11" name="Image 0" descr="preencoded.png">    </p:cNvPr>
          <p:cNvPicPr>
            <a:picLocks noChangeAspect="1"/>
          </p:cNvPicPr>
          <p:nvPr/>
        </p:nvPicPr>
        <p:blipFill>
          <a:blip r:embed="rId1"/>
          <a:stretch>
            <a:fillRect/>
          </a:stretch>
        </p:blipFill>
        <p:spPr>
          <a:xfrm>
            <a:off x="1097280" y="2011680"/>
            <a:ext cx="6949440" cy="228600"/>
          </a:xfrm>
          <a:prstGeom prst="rect">
            <a:avLst/>
          </a:prstGeom>
        </p:spPr>
      </p:pic>
      <p:sp>
        <p:nvSpPr>
          <p:cNvPr id="12" name="Text 9"/>
          <p:cNvSpPr/>
          <p:nvPr/>
        </p:nvSpPr>
        <p:spPr>
          <a:xfrm>
            <a:off x="1097280" y="2286000"/>
            <a:ext cx="1828800" cy="182880"/>
          </a:xfrm>
          <a:prstGeom prst="rect">
            <a:avLst/>
          </a:prstGeom>
          <a:noFill/>
          <a:ln/>
        </p:spPr>
        <p:txBody>
          <a:bodyPr wrap="square" lIns="0" tIns="0" rIns="0" bIns="0" rtlCol="0" anchor="ctr"/>
          <a:lstStyle/>
          <a:p>
            <a:pPr indent="0" marL="0">
              <a:buNone/>
            </a:pPr>
            <a:r>
              <a:rPr lang="en-US" sz="700" dirty="0">
                <a:solidFill>
                  <a:srgbClr val="6366F1"/>
                </a:solidFill>
                <a:latin typeface="Consolas" pitchFamily="34" charset="0"/>
                <a:ea typeface="Consolas" pitchFamily="34" charset="-122"/>
                <a:cs typeface="Consolas" pitchFamily="34" charset="-120"/>
              </a:rPr>
              <a:t>HARD REFUSAL</a:t>
            </a:r>
            <a:endParaRPr lang="en-US" sz="700" dirty="0"/>
          </a:p>
        </p:txBody>
      </p:sp>
      <p:sp>
        <p:nvSpPr>
          <p:cNvPr id="13" name="Text 10"/>
          <p:cNvSpPr/>
          <p:nvPr/>
        </p:nvSpPr>
        <p:spPr>
          <a:xfrm>
            <a:off x="3840480" y="2286000"/>
            <a:ext cx="1463040" cy="182880"/>
          </a:xfrm>
          <a:prstGeom prst="rect">
            <a:avLst/>
          </a:prstGeom>
          <a:noFill/>
          <a:ln/>
        </p:spPr>
        <p:txBody>
          <a:bodyPr wrap="square" lIns="0" tIns="0" rIns="0" bIns="0" rtlCol="0" anchor="ctr"/>
          <a:lstStyle/>
          <a:p>
            <a:pPr algn="ctr" indent="0" marL="0">
              <a:buNone/>
            </a:pPr>
            <a:r>
              <a:rPr lang="en-US" sz="700" dirty="0">
                <a:solidFill>
                  <a:srgbClr val="EAB308"/>
                </a:solidFill>
                <a:latin typeface="Consolas" pitchFamily="34" charset="0"/>
                <a:ea typeface="Consolas" pitchFamily="34" charset="-122"/>
                <a:cs typeface="Consolas" pitchFamily="34" charset="-120"/>
              </a:rPr>
              <a:t>NEGOTIATION</a:t>
            </a:r>
            <a:endParaRPr lang="en-US" sz="700" dirty="0"/>
          </a:p>
        </p:txBody>
      </p:sp>
      <p:sp>
        <p:nvSpPr>
          <p:cNvPr id="14" name="Text 11"/>
          <p:cNvSpPr/>
          <p:nvPr/>
        </p:nvSpPr>
        <p:spPr>
          <a:xfrm>
            <a:off x="6400800" y="2286000"/>
            <a:ext cx="1645920" cy="182880"/>
          </a:xfrm>
          <a:prstGeom prst="rect">
            <a:avLst/>
          </a:prstGeom>
          <a:noFill/>
          <a:ln/>
        </p:spPr>
        <p:txBody>
          <a:bodyPr wrap="square" lIns="0" tIns="0" rIns="0" bIns="0" rtlCol="0" anchor="ctr"/>
          <a:lstStyle/>
          <a:p>
            <a:pPr algn="r" indent="0" marL="0">
              <a:buNone/>
            </a:pPr>
            <a:r>
              <a:rPr lang="en-US" sz="700" dirty="0">
                <a:solidFill>
                  <a:srgbClr val="EF4444"/>
                </a:solidFill>
                <a:latin typeface="Consolas" pitchFamily="34" charset="0"/>
                <a:ea typeface="Consolas" pitchFamily="34" charset="-122"/>
                <a:cs typeface="Consolas" pitchFamily="34" charset="-120"/>
              </a:rPr>
              <a:t>FULL COMPLIANCE</a:t>
            </a:r>
            <a:endParaRPr lang="en-US" sz="700" dirty="0"/>
          </a:p>
        </p:txBody>
      </p:sp>
      <p:sp>
        <p:nvSpPr>
          <p:cNvPr id="15" name="Text 12"/>
          <p:cNvSpPr/>
          <p:nvPr/>
        </p:nvSpPr>
        <p:spPr>
          <a:xfrm>
            <a:off x="1097280" y="2651760"/>
            <a:ext cx="1828800" cy="182880"/>
          </a:xfrm>
          <a:prstGeom prst="rect">
            <a:avLst/>
          </a:prstGeom>
          <a:noFill/>
          <a:ln/>
        </p:spPr>
        <p:txBody>
          <a:bodyPr wrap="square" lIns="0" tIns="0" rIns="0" bIns="0" rtlCol="0" anchor="ctr"/>
          <a:lstStyle/>
          <a:p>
            <a:pPr indent="0" marL="0">
              <a:buNone/>
            </a:pPr>
            <a:r>
              <a:rPr lang="en-US" sz="800" dirty="0">
                <a:solidFill>
                  <a:srgbClr val="22C55E"/>
                </a:solidFill>
                <a:latin typeface="Consolas" pitchFamily="34" charset="0"/>
                <a:ea typeface="Consolas" pitchFamily="34" charset="-122"/>
                <a:cs typeface="Consolas" pitchFamily="34" charset="-120"/>
              </a:rPr>
              <a:t>Normal response:</a:t>
            </a:r>
            <a:endParaRPr lang="en-US" sz="800" dirty="0"/>
          </a:p>
        </p:txBody>
      </p:sp>
      <p:pic>
        <p:nvPicPr>
          <p:cNvPr id="16" name="Image 1" descr="preencoded.png">    </p:cNvPr>
          <p:cNvPicPr>
            <a:picLocks noChangeAspect="1"/>
          </p:cNvPicPr>
          <p:nvPr/>
        </p:nvPicPr>
        <p:blipFill>
          <a:blip r:embed="rId2"/>
          <a:stretch>
            <a:fillRect/>
          </a:stretch>
        </p:blipFill>
        <p:spPr>
          <a:xfrm>
            <a:off x="2926080" y="2606040"/>
            <a:ext cx="4937760" cy="228600"/>
          </a:xfrm>
          <a:prstGeom prst="rect">
            <a:avLst/>
          </a:prstGeom>
        </p:spPr>
      </p:pic>
      <p:sp>
        <p:nvSpPr>
          <p:cNvPr id="17" name="Text 13"/>
          <p:cNvSpPr/>
          <p:nvPr/>
        </p:nvSpPr>
        <p:spPr>
          <a:xfrm>
            <a:off x="1097280" y="3017520"/>
            <a:ext cx="1828800" cy="182880"/>
          </a:xfrm>
          <a:prstGeom prst="rect">
            <a:avLst/>
          </a:prstGeom>
          <a:noFill/>
          <a:ln/>
        </p:spPr>
        <p:txBody>
          <a:bodyPr wrap="square" lIns="0" tIns="0" rIns="0" bIns="0" rtlCol="0" anchor="ctr"/>
          <a:lstStyle/>
          <a:p>
            <a:pPr indent="0" marL="0">
              <a:buNone/>
            </a:pPr>
            <a:r>
              <a:rPr lang="en-US" sz="800" dirty="0">
                <a:solidFill>
                  <a:srgbClr val="EAB308"/>
                </a:solidFill>
                <a:latin typeface="Consolas" pitchFamily="34" charset="0"/>
                <a:ea typeface="Consolas" pitchFamily="34" charset="-122"/>
                <a:cs typeface="Consolas" pitchFamily="34" charset="-120"/>
              </a:rPr>
              <a:t>Under attack:</a:t>
            </a:r>
            <a:endParaRPr lang="en-US" sz="800" dirty="0"/>
          </a:p>
        </p:txBody>
      </p:sp>
      <p:pic>
        <p:nvPicPr>
          <p:cNvPr id="18" name="Image 2" descr="preencoded.png">    </p:cNvPr>
          <p:cNvPicPr>
            <a:picLocks noChangeAspect="1"/>
          </p:cNvPicPr>
          <p:nvPr/>
        </p:nvPicPr>
        <p:blipFill>
          <a:blip r:embed="rId3"/>
          <a:stretch>
            <a:fillRect/>
          </a:stretch>
        </p:blipFill>
        <p:spPr>
          <a:xfrm>
            <a:off x="2926080" y="2971800"/>
            <a:ext cx="4937760" cy="228600"/>
          </a:xfrm>
          <a:prstGeom prst="rect">
            <a:avLst/>
          </a:prstGeom>
        </p:spPr>
      </p:pic>
      <p:sp>
        <p:nvSpPr>
          <p:cNvPr id="19" name="Text 14"/>
          <p:cNvSpPr/>
          <p:nvPr/>
        </p:nvSpPr>
        <p:spPr>
          <a:xfrm>
            <a:off x="1097280" y="3383280"/>
            <a:ext cx="1828800" cy="182880"/>
          </a:xfrm>
          <a:prstGeom prst="rect">
            <a:avLst/>
          </a:prstGeom>
          <a:noFill/>
          <a:ln/>
        </p:spPr>
        <p:txBody>
          <a:bodyPr wrap="square" lIns="0" tIns="0" rIns="0" bIns="0" rtlCol="0" anchor="ctr"/>
          <a:lstStyle/>
          <a:p>
            <a:pPr indent="0" marL="0">
              <a:buNone/>
            </a:pPr>
            <a:r>
              <a:rPr lang="en-US" sz="800" dirty="0">
                <a:solidFill>
                  <a:srgbClr val="EF4444"/>
                </a:solidFill>
                <a:latin typeface="Consolas" pitchFamily="34" charset="0"/>
                <a:ea typeface="Consolas" pitchFamily="34" charset="-122"/>
                <a:cs typeface="Consolas" pitchFamily="34" charset="-120"/>
              </a:rPr>
              <a:t>Dissolved:</a:t>
            </a:r>
            <a:endParaRPr lang="en-US" sz="800" dirty="0"/>
          </a:p>
        </p:txBody>
      </p:sp>
      <p:pic>
        <p:nvPicPr>
          <p:cNvPr id="20" name="Image 3" descr="preencoded.png">    </p:cNvPr>
          <p:cNvPicPr>
            <a:picLocks noChangeAspect="1"/>
          </p:cNvPicPr>
          <p:nvPr/>
        </p:nvPicPr>
        <p:blipFill>
          <a:blip r:embed="rId4"/>
          <a:stretch>
            <a:fillRect/>
          </a:stretch>
        </p:blipFill>
        <p:spPr>
          <a:xfrm>
            <a:off x="2926080" y="3337560"/>
            <a:ext cx="4937760" cy="228600"/>
          </a:xfrm>
          <a:prstGeom prst="rect">
            <a:avLst/>
          </a:prstGeom>
        </p:spPr>
      </p:pic>
      <p:sp>
        <p:nvSpPr>
          <p:cNvPr id="21" name="Text 15"/>
          <p:cNvSpPr/>
          <p:nvPr/>
        </p:nvSpPr>
        <p:spPr>
          <a:xfrm>
            <a:off x="1097280" y="3749040"/>
            <a:ext cx="6400800" cy="274320"/>
          </a:xfrm>
          <a:prstGeom prst="rect">
            <a:avLst/>
          </a:prstGeom>
          <a:noFill/>
          <a:ln/>
        </p:spPr>
        <p:txBody>
          <a:bodyPr wrap="square" lIns="0" tIns="0" rIns="0" bIns="0" rtlCol="0" anchor="ctr"/>
          <a:lstStyle/>
          <a:p>
            <a:pPr indent="0" marL="0">
              <a:buNone/>
            </a:pPr>
            <a:r>
              <a:rPr lang="en-US" sz="1100" i="1" dirty="0">
                <a:solidFill>
                  <a:srgbClr val="555568"/>
                </a:solidFill>
                <a:latin typeface="Calibri" pitchFamily="34" charset="0"/>
                <a:ea typeface="Calibri" pitchFamily="34" charset="-122"/>
                <a:cs typeface="Calibri" pitchFamily="34" charset="-120"/>
              </a:rPr>
              <a:t>You see it at a glance. No ambiguity. The oscillation IS the signal.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6</a:t>
            </a:r>
            <a:endParaRPr lang="en-US" sz="700" dirty="0"/>
          </a:p>
        </p:txBody>
      </p:sp>
      <p:sp>
        <p:nvSpPr>
          <p:cNvPr id="8" name="Text 6"/>
          <p:cNvSpPr/>
          <p:nvPr/>
        </p:nvSpPr>
        <p:spPr>
          <a:xfrm>
            <a:off x="731520" y="640080"/>
            <a:ext cx="7680960" cy="457200"/>
          </a:xfrm>
          <a:prstGeom prst="rect">
            <a:avLst/>
          </a:prstGeom>
          <a:noFill/>
          <a:ln/>
        </p:spPr>
        <p:txBody>
          <a:bodyPr wrap="square" lIns="0" tIns="0" rIns="0" bIns="0" rtlCol="0" anchor="ctr"/>
          <a:lstStyle/>
          <a:p>
            <a:pPr indent="0" marL="0">
              <a:buNone/>
            </a:pPr>
            <a:r>
              <a:rPr lang="en-US" sz="2600" b="1" dirty="0">
                <a:solidFill>
                  <a:srgbClr val="E8E8F0"/>
                </a:solidFill>
                <a:latin typeface="Georgia" pitchFamily="34" charset="0"/>
                <a:ea typeface="Georgia" pitchFamily="34" charset="-122"/>
                <a:cs typeface="Georgia" pitchFamily="34" charset="-120"/>
              </a:rPr>
              <a:t>Five classifiers. Four threats. One system.</a:t>
            </a:r>
            <a:endParaRPr lang="en-US" sz="2600" dirty="0"/>
          </a:p>
        </p:txBody>
      </p:sp>
      <p:sp>
        <p:nvSpPr>
          <p:cNvPr id="9" name="Shape 7"/>
          <p:cNvSpPr/>
          <p:nvPr/>
        </p:nvSpPr>
        <p:spPr>
          <a:xfrm>
            <a:off x="548640" y="1325880"/>
            <a:ext cx="1508760" cy="3108960"/>
          </a:xfrm>
          <a:prstGeom prst="rect">
            <a:avLst/>
          </a:prstGeom>
          <a:solidFill>
            <a:srgbClr val="1A1A26"/>
          </a:solidFill>
          <a:ln w="6350">
            <a:solidFill>
              <a:srgbClr val="2A2A3A"/>
            </a:solidFill>
            <a:prstDash val="solid"/>
          </a:ln>
        </p:spPr>
      </p:sp>
      <p:sp>
        <p:nvSpPr>
          <p:cNvPr id="10" name="Shape 8"/>
          <p:cNvSpPr/>
          <p:nvPr/>
        </p:nvSpPr>
        <p:spPr>
          <a:xfrm>
            <a:off x="548640" y="1325880"/>
            <a:ext cx="1508760" cy="27432"/>
          </a:xfrm>
          <a:prstGeom prst="rect">
            <a:avLst/>
          </a:prstGeom>
          <a:solidFill>
            <a:srgbClr val="6366F1"/>
          </a:solidFill>
          <a:ln/>
        </p:spPr>
      </p:sp>
      <p:sp>
        <p:nvSpPr>
          <p:cNvPr id="11" name="Text 9"/>
          <p:cNvSpPr/>
          <p:nvPr/>
        </p:nvSpPr>
        <p:spPr>
          <a:xfrm>
            <a:off x="548640" y="1508760"/>
            <a:ext cx="1508760" cy="320040"/>
          </a:xfrm>
          <a:prstGeom prst="rect">
            <a:avLst/>
          </a:prstGeom>
          <a:noFill/>
          <a:ln/>
        </p:spPr>
        <p:txBody>
          <a:bodyPr wrap="square" lIns="0" tIns="0" rIns="0" bIns="0" rtlCol="0" anchor="ctr"/>
          <a:lstStyle/>
          <a:p>
            <a:pPr algn="ctr" indent="0" marL="0">
              <a:buNone/>
            </a:pPr>
            <a:r>
              <a:rPr lang="en-US" sz="1800" b="1" dirty="0">
                <a:solidFill>
                  <a:srgbClr val="6366F1"/>
                </a:solidFill>
                <a:latin typeface="Consolas" pitchFamily="34" charset="0"/>
                <a:ea typeface="Consolas" pitchFamily="34" charset="-122"/>
                <a:cs typeface="Consolas" pitchFamily="34" charset="-120"/>
              </a:rPr>
              <a:t>C0</a:t>
            </a:r>
            <a:endParaRPr lang="en-US" sz="1800" dirty="0"/>
          </a:p>
        </p:txBody>
      </p:sp>
      <p:sp>
        <p:nvSpPr>
          <p:cNvPr id="12" name="Text 10"/>
          <p:cNvSpPr/>
          <p:nvPr/>
        </p:nvSpPr>
        <p:spPr>
          <a:xfrm>
            <a:off x="548640" y="1874520"/>
            <a:ext cx="1508760" cy="502920"/>
          </a:xfrm>
          <a:prstGeom prst="rect">
            <a:avLst/>
          </a:prstGeom>
          <a:noFill/>
          <a:ln/>
        </p:spPr>
        <p:txBody>
          <a:bodyPr wrap="square" lIns="0" tIns="0" rIns="0" bIns="0" rtlCol="0" anchor="ctr"/>
          <a:lstStyle/>
          <a:p>
            <a:pPr algn="ctr" indent="0" marL="0">
              <a:buNone/>
            </a:pPr>
            <a:r>
              <a:rPr lang="en-US" sz="1100" b="1" dirty="0">
                <a:solidFill>
                  <a:srgbClr val="E8E8F0"/>
                </a:solidFill>
                <a:latin typeface="Georgia" pitchFamily="34" charset="0"/>
                <a:ea typeface="Georgia" pitchFamily="34" charset="-122"/>
                <a:cs typeface="Georgia" pitchFamily="34" charset="-120"/>
              </a:rPr>
              <a:t>Input</a:t>
            </a:r>
            <a:endParaRPr lang="en-US" sz="1100" dirty="0"/>
          </a:p>
          <a:p>
            <a:pPr algn="ctr" indent="0" marL="0">
              <a:buNone/>
            </a:pPr>
            <a:r>
              <a:rPr lang="en-US" sz="1100" b="1" dirty="0">
                <a:solidFill>
                  <a:srgbClr val="E8E8F0"/>
                </a:solidFill>
                <a:latin typeface="Georgia" pitchFamily="34" charset="0"/>
                <a:ea typeface="Georgia" pitchFamily="34" charset="-122"/>
                <a:cs typeface="Georgia" pitchFamily="34" charset="-120"/>
              </a:rPr>
              <a:t>Pressure</a:t>
            </a:r>
            <a:endParaRPr lang="en-US" sz="1100" dirty="0"/>
          </a:p>
        </p:txBody>
      </p:sp>
      <p:sp>
        <p:nvSpPr>
          <p:cNvPr id="13" name="Text 11"/>
          <p:cNvSpPr/>
          <p:nvPr/>
        </p:nvSpPr>
        <p:spPr>
          <a:xfrm>
            <a:off x="548640" y="2468880"/>
            <a:ext cx="1508760" cy="274320"/>
          </a:xfrm>
          <a:prstGeom prst="rect">
            <a:avLst/>
          </a:prstGeom>
          <a:noFill/>
          <a:ln/>
        </p:spPr>
        <p:txBody>
          <a:bodyPr wrap="square" lIns="0" tIns="0" rIns="0" bIns="0" rtlCol="0" anchor="ctr"/>
          <a:lstStyle/>
          <a:p>
            <a:pPr algn="ctr" indent="0" marL="0">
              <a:buNone/>
            </a:pPr>
            <a:r>
              <a:rPr lang="en-US" sz="900" dirty="0">
                <a:solidFill>
                  <a:srgbClr val="6366F1"/>
                </a:solidFill>
                <a:latin typeface="Consolas" pitchFamily="34" charset="0"/>
                <a:ea typeface="Consolas" pitchFamily="34" charset="-122"/>
                <a:cs typeface="Consolas" pitchFamily="34" charset="-120"/>
              </a:rPr>
              <a:t>10 postures</a:t>
            </a:r>
            <a:endParaRPr lang="en-US" sz="900" dirty="0"/>
          </a:p>
        </p:txBody>
      </p:sp>
      <p:sp>
        <p:nvSpPr>
          <p:cNvPr id="14" name="Shape 12"/>
          <p:cNvSpPr/>
          <p:nvPr/>
        </p:nvSpPr>
        <p:spPr>
          <a:xfrm>
            <a:off x="822960" y="2834640"/>
            <a:ext cx="960120" cy="4572"/>
          </a:xfrm>
          <a:prstGeom prst="rect">
            <a:avLst/>
          </a:prstGeom>
          <a:solidFill>
            <a:srgbClr val="2A2A3A"/>
          </a:solidFill>
          <a:ln/>
        </p:spPr>
      </p:sp>
      <p:sp>
        <p:nvSpPr>
          <p:cNvPr id="15" name="Text 13"/>
          <p:cNvSpPr/>
          <p:nvPr/>
        </p:nvSpPr>
        <p:spPr>
          <a:xfrm>
            <a:off x="640080" y="2971800"/>
            <a:ext cx="1325880" cy="91440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Adversarial</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pressure in</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user input</a:t>
            </a:r>
            <a:endParaRPr lang="en-US" sz="1000" dirty="0"/>
          </a:p>
        </p:txBody>
      </p:sp>
      <p:sp>
        <p:nvSpPr>
          <p:cNvPr id="16" name="Shape 14"/>
          <p:cNvSpPr/>
          <p:nvPr/>
        </p:nvSpPr>
        <p:spPr>
          <a:xfrm>
            <a:off x="2212848" y="1325880"/>
            <a:ext cx="1508760" cy="3108960"/>
          </a:xfrm>
          <a:prstGeom prst="rect">
            <a:avLst/>
          </a:prstGeom>
          <a:solidFill>
            <a:srgbClr val="1A1A26"/>
          </a:solidFill>
          <a:ln w="6350">
            <a:solidFill>
              <a:srgbClr val="2A2A3A"/>
            </a:solidFill>
            <a:prstDash val="solid"/>
          </a:ln>
        </p:spPr>
      </p:sp>
      <p:sp>
        <p:nvSpPr>
          <p:cNvPr id="17" name="Shape 15"/>
          <p:cNvSpPr/>
          <p:nvPr/>
        </p:nvSpPr>
        <p:spPr>
          <a:xfrm>
            <a:off x="2212848" y="1325880"/>
            <a:ext cx="1508760" cy="27432"/>
          </a:xfrm>
          <a:prstGeom prst="rect">
            <a:avLst/>
          </a:prstGeom>
          <a:solidFill>
            <a:srgbClr val="EF4444"/>
          </a:solidFill>
          <a:ln/>
        </p:spPr>
      </p:sp>
      <p:sp>
        <p:nvSpPr>
          <p:cNvPr id="18" name="Text 16"/>
          <p:cNvSpPr/>
          <p:nvPr/>
        </p:nvSpPr>
        <p:spPr>
          <a:xfrm>
            <a:off x="2212848" y="1508760"/>
            <a:ext cx="1508760" cy="320040"/>
          </a:xfrm>
          <a:prstGeom prst="rect">
            <a:avLst/>
          </a:prstGeom>
          <a:noFill/>
          <a:ln/>
        </p:spPr>
        <p:txBody>
          <a:bodyPr wrap="square" lIns="0" tIns="0" rIns="0" bIns="0" rtlCol="0" anchor="ctr"/>
          <a:lstStyle/>
          <a:p>
            <a:pPr algn="ctr" indent="0" marL="0">
              <a:buNone/>
            </a:pPr>
            <a:r>
              <a:rPr lang="en-US" sz="1800" b="1" dirty="0">
                <a:solidFill>
                  <a:srgbClr val="EF4444"/>
                </a:solidFill>
                <a:latin typeface="Consolas" pitchFamily="34" charset="0"/>
                <a:ea typeface="Consolas" pitchFamily="34" charset="-122"/>
                <a:cs typeface="Consolas" pitchFamily="34" charset="-120"/>
              </a:rPr>
              <a:t>C1</a:t>
            </a:r>
            <a:endParaRPr lang="en-US" sz="1800" dirty="0"/>
          </a:p>
        </p:txBody>
      </p:sp>
      <p:sp>
        <p:nvSpPr>
          <p:cNvPr id="19" name="Text 17"/>
          <p:cNvSpPr/>
          <p:nvPr/>
        </p:nvSpPr>
        <p:spPr>
          <a:xfrm>
            <a:off x="2212848" y="1874520"/>
            <a:ext cx="1508760" cy="502920"/>
          </a:xfrm>
          <a:prstGeom prst="rect">
            <a:avLst/>
          </a:prstGeom>
          <a:noFill/>
          <a:ln/>
        </p:spPr>
        <p:txBody>
          <a:bodyPr wrap="square" lIns="0" tIns="0" rIns="0" bIns="0" rtlCol="0" anchor="ctr"/>
          <a:lstStyle/>
          <a:p>
            <a:pPr algn="ctr" indent="0" marL="0">
              <a:buNone/>
            </a:pPr>
            <a:r>
              <a:rPr lang="en-US" sz="1100" b="1" dirty="0">
                <a:solidFill>
                  <a:srgbClr val="E8E8F0"/>
                </a:solidFill>
                <a:latin typeface="Georgia" pitchFamily="34" charset="0"/>
                <a:ea typeface="Georgia" pitchFamily="34" charset="-122"/>
                <a:cs typeface="Georgia" pitchFamily="34" charset="-120"/>
              </a:rPr>
              <a:t>Adversarial</a:t>
            </a:r>
            <a:endParaRPr lang="en-US" sz="1100" dirty="0"/>
          </a:p>
          <a:p>
            <a:pPr algn="ctr" indent="0" marL="0">
              <a:buNone/>
            </a:pPr>
            <a:r>
              <a:rPr lang="en-US" sz="1100" b="1" dirty="0">
                <a:solidFill>
                  <a:srgbClr val="E8E8F0"/>
                </a:solidFill>
                <a:latin typeface="Georgia" pitchFamily="34" charset="0"/>
                <a:ea typeface="Georgia" pitchFamily="34" charset="-122"/>
                <a:cs typeface="Georgia" pitchFamily="34" charset="-120"/>
              </a:rPr>
              <a:t>Stress</a:t>
            </a:r>
            <a:endParaRPr lang="en-US" sz="1100" dirty="0"/>
          </a:p>
        </p:txBody>
      </p:sp>
      <p:sp>
        <p:nvSpPr>
          <p:cNvPr id="20" name="Text 18"/>
          <p:cNvSpPr/>
          <p:nvPr/>
        </p:nvSpPr>
        <p:spPr>
          <a:xfrm>
            <a:off x="2212848" y="2468880"/>
            <a:ext cx="1508760" cy="274320"/>
          </a:xfrm>
          <a:prstGeom prst="rect">
            <a:avLst/>
          </a:prstGeom>
          <a:noFill/>
          <a:ln/>
        </p:spPr>
        <p:txBody>
          <a:bodyPr wrap="square" lIns="0" tIns="0" rIns="0" bIns="0" rtlCol="0" anchor="ctr"/>
          <a:lstStyle/>
          <a:p>
            <a:pPr algn="ctr" indent="0" marL="0">
              <a:buNone/>
            </a:pPr>
            <a:r>
              <a:rPr lang="en-US" sz="900" dirty="0">
                <a:solidFill>
                  <a:srgbClr val="EF4444"/>
                </a:solidFill>
                <a:latin typeface="Consolas" pitchFamily="34" charset="0"/>
                <a:ea typeface="Consolas" pitchFamily="34" charset="-122"/>
                <a:cs typeface="Consolas" pitchFamily="34" charset="-120"/>
              </a:rPr>
              <a:t>16 postures</a:t>
            </a:r>
            <a:endParaRPr lang="en-US" sz="900" dirty="0"/>
          </a:p>
        </p:txBody>
      </p:sp>
      <p:sp>
        <p:nvSpPr>
          <p:cNvPr id="21" name="Shape 19"/>
          <p:cNvSpPr/>
          <p:nvPr/>
        </p:nvSpPr>
        <p:spPr>
          <a:xfrm>
            <a:off x="2487168" y="2834640"/>
            <a:ext cx="960120" cy="4572"/>
          </a:xfrm>
          <a:prstGeom prst="rect">
            <a:avLst/>
          </a:prstGeom>
          <a:solidFill>
            <a:srgbClr val="2A2A3A"/>
          </a:solidFill>
          <a:ln/>
        </p:spPr>
      </p:sp>
      <p:sp>
        <p:nvSpPr>
          <p:cNvPr id="22" name="Text 20"/>
          <p:cNvSpPr/>
          <p:nvPr/>
        </p:nvSpPr>
        <p:spPr>
          <a:xfrm>
            <a:off x="2304288" y="2971800"/>
            <a:ext cx="1325880" cy="91440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Jailbreak &amp;</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manipulation</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detection</a:t>
            </a:r>
            <a:endParaRPr lang="en-US" sz="1000" dirty="0"/>
          </a:p>
        </p:txBody>
      </p:sp>
      <p:sp>
        <p:nvSpPr>
          <p:cNvPr id="23" name="Shape 21"/>
          <p:cNvSpPr/>
          <p:nvPr/>
        </p:nvSpPr>
        <p:spPr>
          <a:xfrm>
            <a:off x="3877056" y="1325880"/>
            <a:ext cx="1508760" cy="3108960"/>
          </a:xfrm>
          <a:prstGeom prst="rect">
            <a:avLst/>
          </a:prstGeom>
          <a:solidFill>
            <a:srgbClr val="1A1A26"/>
          </a:solidFill>
          <a:ln w="6350">
            <a:solidFill>
              <a:srgbClr val="2A2A3A"/>
            </a:solidFill>
            <a:prstDash val="solid"/>
          </a:ln>
        </p:spPr>
      </p:sp>
      <p:sp>
        <p:nvSpPr>
          <p:cNvPr id="24" name="Shape 22"/>
          <p:cNvSpPr/>
          <p:nvPr/>
        </p:nvSpPr>
        <p:spPr>
          <a:xfrm>
            <a:off x="3877056" y="1325880"/>
            <a:ext cx="1508760" cy="27432"/>
          </a:xfrm>
          <a:prstGeom prst="rect">
            <a:avLst/>
          </a:prstGeom>
          <a:solidFill>
            <a:srgbClr val="EAB308"/>
          </a:solidFill>
          <a:ln/>
        </p:spPr>
      </p:sp>
      <p:sp>
        <p:nvSpPr>
          <p:cNvPr id="25" name="Text 23"/>
          <p:cNvSpPr/>
          <p:nvPr/>
        </p:nvSpPr>
        <p:spPr>
          <a:xfrm>
            <a:off x="3877056" y="1508760"/>
            <a:ext cx="1508760" cy="320040"/>
          </a:xfrm>
          <a:prstGeom prst="rect">
            <a:avLst/>
          </a:prstGeom>
          <a:noFill/>
          <a:ln/>
        </p:spPr>
        <p:txBody>
          <a:bodyPr wrap="square" lIns="0" tIns="0" rIns="0" bIns="0" rtlCol="0" anchor="ctr"/>
          <a:lstStyle/>
          <a:p>
            <a:pPr algn="ctr" indent="0" marL="0">
              <a:buNone/>
            </a:pPr>
            <a:r>
              <a:rPr lang="en-US" sz="1800" b="1" dirty="0">
                <a:solidFill>
                  <a:srgbClr val="EAB308"/>
                </a:solidFill>
                <a:latin typeface="Consolas" pitchFamily="34" charset="0"/>
                <a:ea typeface="Consolas" pitchFamily="34" charset="-122"/>
                <a:cs typeface="Consolas" pitchFamily="34" charset="-120"/>
              </a:rPr>
              <a:t>C2</a:t>
            </a:r>
            <a:endParaRPr lang="en-US" sz="1800" dirty="0"/>
          </a:p>
        </p:txBody>
      </p:sp>
      <p:sp>
        <p:nvSpPr>
          <p:cNvPr id="26" name="Text 24"/>
          <p:cNvSpPr/>
          <p:nvPr/>
        </p:nvSpPr>
        <p:spPr>
          <a:xfrm>
            <a:off x="3877056" y="1874520"/>
            <a:ext cx="1508760" cy="502920"/>
          </a:xfrm>
          <a:prstGeom prst="rect">
            <a:avLst/>
          </a:prstGeom>
          <a:noFill/>
          <a:ln/>
        </p:spPr>
        <p:txBody>
          <a:bodyPr wrap="square" lIns="0" tIns="0" rIns="0" bIns="0" rtlCol="0" anchor="ctr"/>
          <a:lstStyle/>
          <a:p>
            <a:pPr algn="ctr" indent="0" marL="0">
              <a:buNone/>
            </a:pPr>
            <a:r>
              <a:rPr lang="en-US" sz="1100" b="1" dirty="0">
                <a:solidFill>
                  <a:srgbClr val="E8E8F0"/>
                </a:solidFill>
                <a:latin typeface="Georgia" pitchFamily="34" charset="0"/>
                <a:ea typeface="Georgia" pitchFamily="34" charset="-122"/>
                <a:cs typeface="Georgia" pitchFamily="34" charset="-120"/>
              </a:rPr>
              <a:t>Sycophancy</a:t>
            </a:r>
            <a:endParaRPr lang="en-US" sz="1100" dirty="0"/>
          </a:p>
        </p:txBody>
      </p:sp>
      <p:sp>
        <p:nvSpPr>
          <p:cNvPr id="27" name="Text 25"/>
          <p:cNvSpPr/>
          <p:nvPr/>
        </p:nvSpPr>
        <p:spPr>
          <a:xfrm>
            <a:off x="3877056" y="2468880"/>
            <a:ext cx="1508760" cy="274320"/>
          </a:xfrm>
          <a:prstGeom prst="rect">
            <a:avLst/>
          </a:prstGeom>
          <a:noFill/>
          <a:ln/>
        </p:spPr>
        <p:txBody>
          <a:bodyPr wrap="square" lIns="0" tIns="0" rIns="0" bIns="0" rtlCol="0" anchor="ctr"/>
          <a:lstStyle/>
          <a:p>
            <a:pPr algn="ctr" indent="0" marL="0">
              <a:buNone/>
            </a:pPr>
            <a:r>
              <a:rPr lang="en-US" sz="900" dirty="0">
                <a:solidFill>
                  <a:srgbClr val="EAB308"/>
                </a:solidFill>
                <a:latin typeface="Consolas" pitchFamily="34" charset="0"/>
                <a:ea typeface="Consolas" pitchFamily="34" charset="-122"/>
                <a:cs typeface="Consolas" pitchFamily="34" charset="-120"/>
              </a:rPr>
              <a:t>10 postures</a:t>
            </a:r>
            <a:endParaRPr lang="en-US" sz="900" dirty="0"/>
          </a:p>
        </p:txBody>
      </p:sp>
      <p:sp>
        <p:nvSpPr>
          <p:cNvPr id="28" name="Shape 26"/>
          <p:cNvSpPr/>
          <p:nvPr/>
        </p:nvSpPr>
        <p:spPr>
          <a:xfrm>
            <a:off x="4151376" y="2834640"/>
            <a:ext cx="960120" cy="4572"/>
          </a:xfrm>
          <a:prstGeom prst="rect">
            <a:avLst/>
          </a:prstGeom>
          <a:solidFill>
            <a:srgbClr val="2A2A3A"/>
          </a:solidFill>
          <a:ln/>
        </p:spPr>
      </p:sp>
      <p:sp>
        <p:nvSpPr>
          <p:cNvPr id="29" name="Text 27"/>
          <p:cNvSpPr/>
          <p:nvPr/>
        </p:nvSpPr>
        <p:spPr>
          <a:xfrm>
            <a:off x="3968496" y="2971800"/>
            <a:ext cx="1325880" cy="91440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Excessive</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agreement &amp;</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validation</a:t>
            </a:r>
            <a:endParaRPr lang="en-US" sz="1000" dirty="0"/>
          </a:p>
        </p:txBody>
      </p:sp>
      <p:sp>
        <p:nvSpPr>
          <p:cNvPr id="30" name="Shape 28"/>
          <p:cNvSpPr/>
          <p:nvPr/>
        </p:nvSpPr>
        <p:spPr>
          <a:xfrm>
            <a:off x="5541264" y="1325880"/>
            <a:ext cx="1508760" cy="3108960"/>
          </a:xfrm>
          <a:prstGeom prst="rect">
            <a:avLst/>
          </a:prstGeom>
          <a:solidFill>
            <a:srgbClr val="1A1A26"/>
          </a:solidFill>
          <a:ln w="6350">
            <a:solidFill>
              <a:srgbClr val="2A2A3A"/>
            </a:solidFill>
            <a:prstDash val="solid"/>
          </a:ln>
        </p:spPr>
      </p:sp>
      <p:sp>
        <p:nvSpPr>
          <p:cNvPr id="31" name="Shape 29"/>
          <p:cNvSpPr/>
          <p:nvPr/>
        </p:nvSpPr>
        <p:spPr>
          <a:xfrm>
            <a:off x="5541264" y="1325880"/>
            <a:ext cx="1508760" cy="27432"/>
          </a:xfrm>
          <a:prstGeom prst="rect">
            <a:avLst/>
          </a:prstGeom>
          <a:solidFill>
            <a:srgbClr val="F97316"/>
          </a:solidFill>
          <a:ln/>
        </p:spPr>
      </p:sp>
      <p:sp>
        <p:nvSpPr>
          <p:cNvPr id="32" name="Text 30"/>
          <p:cNvSpPr/>
          <p:nvPr/>
        </p:nvSpPr>
        <p:spPr>
          <a:xfrm>
            <a:off x="5541264" y="1508760"/>
            <a:ext cx="1508760" cy="320040"/>
          </a:xfrm>
          <a:prstGeom prst="rect">
            <a:avLst/>
          </a:prstGeom>
          <a:noFill/>
          <a:ln/>
        </p:spPr>
        <p:txBody>
          <a:bodyPr wrap="square" lIns="0" tIns="0" rIns="0" bIns="0" rtlCol="0" anchor="ctr"/>
          <a:lstStyle/>
          <a:p>
            <a:pPr algn="ctr" indent="0" marL="0">
              <a:buNone/>
            </a:pPr>
            <a:r>
              <a:rPr lang="en-US" sz="1800" b="1" dirty="0">
                <a:solidFill>
                  <a:srgbClr val="F97316"/>
                </a:solidFill>
                <a:latin typeface="Consolas" pitchFamily="34" charset="0"/>
                <a:ea typeface="Consolas" pitchFamily="34" charset="-122"/>
                <a:cs typeface="Consolas" pitchFamily="34" charset="-120"/>
              </a:rPr>
              <a:t>C3</a:t>
            </a:r>
            <a:endParaRPr lang="en-US" sz="1800" dirty="0"/>
          </a:p>
        </p:txBody>
      </p:sp>
      <p:sp>
        <p:nvSpPr>
          <p:cNvPr id="33" name="Text 31"/>
          <p:cNvSpPr/>
          <p:nvPr/>
        </p:nvSpPr>
        <p:spPr>
          <a:xfrm>
            <a:off x="5541264" y="1874520"/>
            <a:ext cx="1508760" cy="502920"/>
          </a:xfrm>
          <a:prstGeom prst="rect">
            <a:avLst/>
          </a:prstGeom>
          <a:noFill/>
          <a:ln/>
        </p:spPr>
        <p:txBody>
          <a:bodyPr wrap="square" lIns="0" tIns="0" rIns="0" bIns="0" rtlCol="0" anchor="ctr"/>
          <a:lstStyle/>
          <a:p>
            <a:pPr algn="ctr" indent="0" marL="0">
              <a:buNone/>
            </a:pPr>
            <a:r>
              <a:rPr lang="en-US" sz="1100" b="1" dirty="0">
                <a:solidFill>
                  <a:srgbClr val="E8E8F0"/>
                </a:solidFill>
                <a:latin typeface="Georgia" pitchFamily="34" charset="0"/>
                <a:ea typeface="Georgia" pitchFamily="34" charset="-122"/>
                <a:cs typeface="Georgia" pitchFamily="34" charset="-120"/>
              </a:rPr>
              <a:t>Hallucination</a:t>
            </a:r>
            <a:endParaRPr lang="en-US" sz="1100" dirty="0"/>
          </a:p>
          <a:p>
            <a:pPr algn="ctr" indent="0" marL="0">
              <a:buNone/>
            </a:pPr>
            <a:r>
              <a:rPr lang="en-US" sz="1100" b="1" dirty="0">
                <a:solidFill>
                  <a:srgbClr val="E8E8F0"/>
                </a:solidFill>
                <a:latin typeface="Georgia" pitchFamily="34" charset="0"/>
                <a:ea typeface="Georgia" pitchFamily="34" charset="-122"/>
                <a:cs typeface="Georgia" pitchFamily="34" charset="-120"/>
              </a:rPr>
              <a:t>Markers</a:t>
            </a:r>
            <a:endParaRPr lang="en-US" sz="1100" dirty="0"/>
          </a:p>
        </p:txBody>
      </p:sp>
      <p:sp>
        <p:nvSpPr>
          <p:cNvPr id="34" name="Text 32"/>
          <p:cNvSpPr/>
          <p:nvPr/>
        </p:nvSpPr>
        <p:spPr>
          <a:xfrm>
            <a:off x="5541264" y="2468880"/>
            <a:ext cx="1508760" cy="274320"/>
          </a:xfrm>
          <a:prstGeom prst="rect">
            <a:avLst/>
          </a:prstGeom>
          <a:noFill/>
          <a:ln/>
        </p:spPr>
        <p:txBody>
          <a:bodyPr wrap="square" lIns="0" tIns="0" rIns="0" bIns="0" rtlCol="0" anchor="ctr"/>
          <a:lstStyle/>
          <a:p>
            <a:pPr algn="ctr" indent="0" marL="0">
              <a:buNone/>
            </a:pPr>
            <a:r>
              <a:rPr lang="en-US" sz="900" dirty="0">
                <a:solidFill>
                  <a:srgbClr val="F97316"/>
                </a:solidFill>
                <a:latin typeface="Consolas" pitchFamily="34" charset="0"/>
                <a:ea typeface="Consolas" pitchFamily="34" charset="-122"/>
                <a:cs typeface="Consolas" pitchFamily="34" charset="-120"/>
              </a:rPr>
              <a:t>8 postures</a:t>
            </a:r>
            <a:endParaRPr lang="en-US" sz="900" dirty="0"/>
          </a:p>
        </p:txBody>
      </p:sp>
      <p:sp>
        <p:nvSpPr>
          <p:cNvPr id="35" name="Shape 33"/>
          <p:cNvSpPr/>
          <p:nvPr/>
        </p:nvSpPr>
        <p:spPr>
          <a:xfrm>
            <a:off x="5815584" y="2834640"/>
            <a:ext cx="960120" cy="4572"/>
          </a:xfrm>
          <a:prstGeom prst="rect">
            <a:avLst/>
          </a:prstGeom>
          <a:solidFill>
            <a:srgbClr val="2A2A3A"/>
          </a:solidFill>
          <a:ln/>
        </p:spPr>
      </p:sp>
      <p:sp>
        <p:nvSpPr>
          <p:cNvPr id="36" name="Text 34"/>
          <p:cNvSpPr/>
          <p:nvPr/>
        </p:nvSpPr>
        <p:spPr>
          <a:xfrm>
            <a:off x="5632704" y="2971800"/>
            <a:ext cx="1325880" cy="91440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Fabrication</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signals without</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ground truth</a:t>
            </a:r>
            <a:endParaRPr lang="en-US" sz="1000" dirty="0"/>
          </a:p>
        </p:txBody>
      </p:sp>
      <p:sp>
        <p:nvSpPr>
          <p:cNvPr id="37" name="Shape 35"/>
          <p:cNvSpPr/>
          <p:nvPr/>
        </p:nvSpPr>
        <p:spPr>
          <a:xfrm>
            <a:off x="7205472" y="1325880"/>
            <a:ext cx="1508760" cy="3108960"/>
          </a:xfrm>
          <a:prstGeom prst="rect">
            <a:avLst/>
          </a:prstGeom>
          <a:solidFill>
            <a:srgbClr val="1A1A26"/>
          </a:solidFill>
          <a:ln w="6350">
            <a:solidFill>
              <a:srgbClr val="2A2A3A"/>
            </a:solidFill>
            <a:prstDash val="solid"/>
          </a:ln>
        </p:spPr>
      </p:sp>
      <p:sp>
        <p:nvSpPr>
          <p:cNvPr id="38" name="Shape 36"/>
          <p:cNvSpPr/>
          <p:nvPr/>
        </p:nvSpPr>
        <p:spPr>
          <a:xfrm>
            <a:off x="7205472" y="1325880"/>
            <a:ext cx="1508760" cy="27432"/>
          </a:xfrm>
          <a:prstGeom prst="rect">
            <a:avLst/>
          </a:prstGeom>
          <a:solidFill>
            <a:srgbClr val="EF4444"/>
          </a:solidFill>
          <a:ln/>
        </p:spPr>
      </p:sp>
      <p:sp>
        <p:nvSpPr>
          <p:cNvPr id="39" name="Text 37"/>
          <p:cNvSpPr/>
          <p:nvPr/>
        </p:nvSpPr>
        <p:spPr>
          <a:xfrm>
            <a:off x="7205472" y="1508760"/>
            <a:ext cx="1508760" cy="320040"/>
          </a:xfrm>
          <a:prstGeom prst="rect">
            <a:avLst/>
          </a:prstGeom>
          <a:noFill/>
          <a:ln/>
        </p:spPr>
        <p:txBody>
          <a:bodyPr wrap="square" lIns="0" tIns="0" rIns="0" bIns="0" rtlCol="0" anchor="ctr"/>
          <a:lstStyle/>
          <a:p>
            <a:pPr algn="ctr" indent="0" marL="0">
              <a:buNone/>
            </a:pPr>
            <a:r>
              <a:rPr lang="en-US" sz="1800" b="1" dirty="0">
                <a:solidFill>
                  <a:srgbClr val="EF4444"/>
                </a:solidFill>
                <a:latin typeface="Consolas" pitchFamily="34" charset="0"/>
                <a:ea typeface="Consolas" pitchFamily="34" charset="-122"/>
                <a:cs typeface="Consolas" pitchFamily="34" charset="-120"/>
              </a:rPr>
              <a:t>C4</a:t>
            </a:r>
            <a:endParaRPr lang="en-US" sz="1800" dirty="0"/>
          </a:p>
        </p:txBody>
      </p:sp>
      <p:sp>
        <p:nvSpPr>
          <p:cNvPr id="40" name="Text 38"/>
          <p:cNvSpPr/>
          <p:nvPr/>
        </p:nvSpPr>
        <p:spPr>
          <a:xfrm>
            <a:off x="7205472" y="1874520"/>
            <a:ext cx="1508760" cy="502920"/>
          </a:xfrm>
          <a:prstGeom prst="rect">
            <a:avLst/>
          </a:prstGeom>
          <a:noFill/>
          <a:ln/>
        </p:spPr>
        <p:txBody>
          <a:bodyPr wrap="square" lIns="0" tIns="0" rIns="0" bIns="0" rtlCol="0" anchor="ctr"/>
          <a:lstStyle/>
          <a:p>
            <a:pPr algn="ctr" indent="0" marL="0">
              <a:buNone/>
            </a:pPr>
            <a:r>
              <a:rPr lang="en-US" sz="1100" b="1" dirty="0">
                <a:solidFill>
                  <a:srgbClr val="E8E8F0"/>
                </a:solidFill>
                <a:latin typeface="Georgia" pitchFamily="34" charset="0"/>
                <a:ea typeface="Georgia" pitchFamily="34" charset="-122"/>
                <a:cs typeface="Georgia" pitchFamily="34" charset="-120"/>
              </a:rPr>
              <a:t>Persuasion</a:t>
            </a:r>
            <a:endParaRPr lang="en-US" sz="1100" dirty="0"/>
          </a:p>
        </p:txBody>
      </p:sp>
      <p:sp>
        <p:nvSpPr>
          <p:cNvPr id="41" name="Text 39"/>
          <p:cNvSpPr/>
          <p:nvPr/>
        </p:nvSpPr>
        <p:spPr>
          <a:xfrm>
            <a:off x="7205472" y="2468880"/>
            <a:ext cx="1508760" cy="274320"/>
          </a:xfrm>
          <a:prstGeom prst="rect">
            <a:avLst/>
          </a:prstGeom>
          <a:noFill/>
          <a:ln/>
        </p:spPr>
        <p:txBody>
          <a:bodyPr wrap="square" lIns="0" tIns="0" rIns="0" bIns="0" rtlCol="0" anchor="ctr"/>
          <a:lstStyle/>
          <a:p>
            <a:pPr algn="ctr" indent="0" marL="0">
              <a:buNone/>
            </a:pPr>
            <a:r>
              <a:rPr lang="en-US" sz="900" dirty="0">
                <a:solidFill>
                  <a:srgbClr val="EF4444"/>
                </a:solidFill>
                <a:latin typeface="Consolas" pitchFamily="34" charset="0"/>
                <a:ea typeface="Consolas" pitchFamily="34" charset="-122"/>
                <a:cs typeface="Consolas" pitchFamily="34" charset="-120"/>
              </a:rPr>
              <a:t>12 postures</a:t>
            </a:r>
            <a:endParaRPr lang="en-US" sz="900" dirty="0"/>
          </a:p>
        </p:txBody>
      </p:sp>
      <p:sp>
        <p:nvSpPr>
          <p:cNvPr id="42" name="Shape 40"/>
          <p:cNvSpPr/>
          <p:nvPr/>
        </p:nvSpPr>
        <p:spPr>
          <a:xfrm>
            <a:off x="7479792" y="2834640"/>
            <a:ext cx="960120" cy="4572"/>
          </a:xfrm>
          <a:prstGeom prst="rect">
            <a:avLst/>
          </a:prstGeom>
          <a:solidFill>
            <a:srgbClr val="2A2A3A"/>
          </a:solidFill>
          <a:ln/>
        </p:spPr>
      </p:sp>
      <p:sp>
        <p:nvSpPr>
          <p:cNvPr id="43" name="Text 41"/>
          <p:cNvSpPr/>
          <p:nvPr/>
        </p:nvSpPr>
        <p:spPr>
          <a:xfrm>
            <a:off x="7296912" y="2971800"/>
            <a:ext cx="1325880" cy="91440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Influence</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techniques in</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model output</a:t>
            </a:r>
            <a:endParaRPr lang="en-US" sz="1000" dirty="0"/>
          </a:p>
        </p:txBody>
      </p:sp>
      <p:sp>
        <p:nvSpPr>
          <p:cNvPr id="44" name="Text 42"/>
          <p:cNvSpPr/>
          <p:nvPr/>
        </p:nvSpPr>
        <p:spPr>
          <a:xfrm>
            <a:off x="731520" y="4572000"/>
            <a:ext cx="7680960" cy="228600"/>
          </a:xfrm>
          <a:prstGeom prst="rect">
            <a:avLst/>
          </a:prstGeom>
          <a:noFill/>
          <a:ln/>
        </p:spPr>
        <p:txBody>
          <a:bodyPr wrap="square" lIns="0" tIns="0" rIns="0" bIns="0" rtlCol="0" anchor="ctr"/>
          <a:lstStyle/>
          <a:p>
            <a:pPr algn="ctr" indent="0" marL="0">
              <a:buNone/>
            </a:pPr>
            <a:r>
              <a:rPr lang="en-US" sz="900" dirty="0">
                <a:solidFill>
                  <a:srgbClr val="22C55E"/>
                </a:solidFill>
                <a:latin typeface="Consolas" pitchFamily="34" charset="0"/>
                <a:ea typeface="Consolas" pitchFamily="34" charset="-122"/>
                <a:cs typeface="Consolas" pitchFamily="34" charset="-120"/>
              </a:rPr>
              <a:t>56 total postures   ·   &lt;1.5 MB on disk   ·   &lt;3ms inference on CPU   ·   6 languages   ·   zero external dependencies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7</a:t>
            </a:r>
            <a:endParaRPr lang="en-US" sz="700" dirty="0"/>
          </a:p>
        </p:txBody>
      </p:sp>
      <p:sp>
        <p:nvSpPr>
          <p:cNvPr id="8" name="Text 6"/>
          <p:cNvSpPr/>
          <p:nvPr/>
        </p:nvSpPr>
        <p:spPr>
          <a:xfrm>
            <a:off x="731520" y="640080"/>
            <a:ext cx="7680960" cy="457200"/>
          </a:xfrm>
          <a:prstGeom prst="rect">
            <a:avLst/>
          </a:prstGeom>
          <a:noFill/>
          <a:ln/>
        </p:spPr>
        <p:txBody>
          <a:bodyPr wrap="square" lIns="0" tIns="0" rIns="0" bIns="0" rtlCol="0" anchor="ctr"/>
          <a:lstStyle/>
          <a:p>
            <a:pPr indent="0" marL="0">
              <a:buNone/>
            </a:pPr>
            <a:r>
              <a:rPr lang="en-US" sz="2600" b="1" dirty="0">
                <a:solidFill>
                  <a:srgbClr val="E8E8F0"/>
                </a:solidFill>
                <a:latin typeface="Georgia" pitchFamily="34" charset="0"/>
                <a:ea typeface="Georgia" pitchFamily="34" charset="-122"/>
                <a:cs typeface="Georgia" pitchFamily="34" charset="-120"/>
              </a:rPr>
              <a:t>The Incongruence Matrix.</a:t>
            </a:r>
            <a:endParaRPr lang="en-US" sz="2600" dirty="0"/>
          </a:p>
        </p:txBody>
      </p:sp>
      <p:sp>
        <p:nvSpPr>
          <p:cNvPr id="9" name="Text 7"/>
          <p:cNvSpPr/>
          <p:nvPr/>
        </p:nvSpPr>
        <p:spPr>
          <a:xfrm>
            <a:off x="731520" y="1097280"/>
            <a:ext cx="7315200" cy="274320"/>
          </a:xfrm>
          <a:prstGeom prst="rect">
            <a:avLst/>
          </a:prstGeom>
          <a:noFill/>
          <a:ln/>
        </p:spPr>
        <p:txBody>
          <a:bodyPr wrap="square" lIns="0" tIns="0" rIns="0" bIns="0" rtlCol="0" anchor="ctr"/>
          <a:lstStyle/>
          <a:p>
            <a:pPr indent="0" marL="0">
              <a:buNone/>
            </a:pPr>
            <a:r>
              <a:rPr lang="en-US" sz="1300" dirty="0">
                <a:solidFill>
                  <a:srgbClr val="8888A0"/>
                </a:solidFill>
                <a:latin typeface="Calibri" pitchFamily="34" charset="0"/>
                <a:ea typeface="Calibri" pitchFamily="34" charset="-122"/>
                <a:cs typeface="Calibri" pitchFamily="34" charset="-120"/>
              </a:rPr>
              <a:t>When input and output don't match, something is wrong.</a:t>
            </a:r>
            <a:endParaRPr lang="en-US" sz="1300" dirty="0"/>
          </a:p>
        </p:txBody>
      </p:sp>
      <p:pic>
        <p:nvPicPr>
          <p:cNvPr id="10" name="Image 0" descr="preencoded.png">    </p:cNvPr>
          <p:cNvPicPr>
            <a:picLocks noChangeAspect="1"/>
          </p:cNvPicPr>
          <p:nvPr/>
        </p:nvPicPr>
        <p:blipFill>
          <a:blip r:embed="rId1"/>
          <a:stretch>
            <a:fillRect/>
          </a:stretch>
        </p:blipFill>
        <p:spPr>
          <a:xfrm>
            <a:off x="731520" y="1554480"/>
            <a:ext cx="4572000" cy="2651760"/>
          </a:xfrm>
          <a:prstGeom prst="rect">
            <a:avLst/>
          </a:prstGeom>
        </p:spPr>
      </p:pic>
      <p:sp>
        <p:nvSpPr>
          <p:cNvPr id="11" name="Shape 8"/>
          <p:cNvSpPr/>
          <p:nvPr/>
        </p:nvSpPr>
        <p:spPr>
          <a:xfrm>
            <a:off x="5577840" y="1554480"/>
            <a:ext cx="3017520" cy="548640"/>
          </a:xfrm>
          <a:prstGeom prst="rect">
            <a:avLst/>
          </a:prstGeom>
          <a:solidFill>
            <a:srgbClr val="1A1A26"/>
          </a:solidFill>
          <a:ln w="6350">
            <a:solidFill>
              <a:srgbClr val="EF4444"/>
            </a:solidFill>
            <a:prstDash val="solid"/>
          </a:ln>
        </p:spPr>
      </p:sp>
      <p:sp>
        <p:nvSpPr>
          <p:cNvPr id="12" name="Text 9"/>
          <p:cNvSpPr/>
          <p:nvPr/>
        </p:nvSpPr>
        <p:spPr>
          <a:xfrm>
            <a:off x="5669280" y="1572768"/>
            <a:ext cx="2834640" cy="228600"/>
          </a:xfrm>
          <a:prstGeom prst="rect">
            <a:avLst/>
          </a:prstGeom>
          <a:noFill/>
          <a:ln/>
        </p:spPr>
        <p:txBody>
          <a:bodyPr wrap="square" lIns="0" tIns="0" rIns="0" bIns="0" rtlCol="0" anchor="ctr"/>
          <a:lstStyle/>
          <a:p>
            <a:pPr indent="0" marL="0">
              <a:buNone/>
            </a:pPr>
            <a:r>
              <a:rPr lang="en-US" sz="900" b="1" dirty="0">
                <a:solidFill>
                  <a:srgbClr val="EF4444"/>
                </a:solidFill>
                <a:latin typeface="Consolas" pitchFamily="34" charset="0"/>
                <a:ea typeface="Consolas" pitchFamily="34" charset="-122"/>
                <a:cs typeface="Consolas" pitchFamily="34" charset="-120"/>
              </a:rPr>
              <a:t>⚠ CRITICAL = invisible breach</a:t>
            </a:r>
            <a:endParaRPr lang="en-US" sz="900" dirty="0"/>
          </a:p>
        </p:txBody>
      </p:sp>
      <p:sp>
        <p:nvSpPr>
          <p:cNvPr id="13" name="Text 10"/>
          <p:cNvSpPr/>
          <p:nvPr/>
        </p:nvSpPr>
        <p:spPr>
          <a:xfrm>
            <a:off x="5669280" y="1801368"/>
            <a:ext cx="2834640" cy="27432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High pressure, zero tension.</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The model gave up silently.</a:t>
            </a:r>
            <a:endParaRPr lang="en-US" sz="900" dirty="0"/>
          </a:p>
        </p:txBody>
      </p:sp>
      <p:sp>
        <p:nvSpPr>
          <p:cNvPr id="14" name="Shape 11"/>
          <p:cNvSpPr/>
          <p:nvPr/>
        </p:nvSpPr>
        <p:spPr>
          <a:xfrm>
            <a:off x="5577840" y="2286000"/>
            <a:ext cx="3017520" cy="548640"/>
          </a:xfrm>
          <a:prstGeom prst="rect">
            <a:avLst/>
          </a:prstGeom>
          <a:solidFill>
            <a:srgbClr val="1A1A26"/>
          </a:solidFill>
          <a:ln w="6350">
            <a:solidFill>
              <a:srgbClr val="F97316"/>
            </a:solidFill>
            <a:prstDash val="solid"/>
          </a:ln>
        </p:spPr>
      </p:sp>
      <p:sp>
        <p:nvSpPr>
          <p:cNvPr id="15" name="Text 12"/>
          <p:cNvSpPr/>
          <p:nvPr/>
        </p:nvSpPr>
        <p:spPr>
          <a:xfrm>
            <a:off x="5669280" y="2304288"/>
            <a:ext cx="2834640" cy="228600"/>
          </a:xfrm>
          <a:prstGeom prst="rect">
            <a:avLst/>
          </a:prstGeom>
          <a:noFill/>
          <a:ln/>
        </p:spPr>
        <p:txBody>
          <a:bodyPr wrap="square" lIns="0" tIns="0" rIns="0" bIns="0" rtlCol="0" anchor="ctr"/>
          <a:lstStyle/>
          <a:p>
            <a:pPr indent="0" marL="0">
              <a:buNone/>
            </a:pPr>
            <a:r>
              <a:rPr lang="en-US" sz="900" b="1" dirty="0">
                <a:solidFill>
                  <a:srgbClr val="F97316"/>
                </a:solidFill>
                <a:latin typeface="Consolas" pitchFamily="34" charset="0"/>
                <a:ea typeface="Consolas" pitchFamily="34" charset="-122"/>
                <a:cs typeface="Consolas" pitchFamily="34" charset="-120"/>
              </a:rPr>
              <a:t>YELLOW/RED = model is fighting</a:t>
            </a:r>
            <a:endParaRPr lang="en-US" sz="900" dirty="0"/>
          </a:p>
        </p:txBody>
      </p:sp>
      <p:sp>
        <p:nvSpPr>
          <p:cNvPr id="16" name="Text 13"/>
          <p:cNvSpPr/>
          <p:nvPr/>
        </p:nvSpPr>
        <p:spPr>
          <a:xfrm>
            <a:off x="5669280" y="2532888"/>
            <a:ext cx="2834640" cy="27432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High pressure, high tension.</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Safety alignment is active.</a:t>
            </a:r>
            <a:endParaRPr lang="en-US" sz="900" dirty="0"/>
          </a:p>
        </p:txBody>
      </p:sp>
      <p:sp>
        <p:nvSpPr>
          <p:cNvPr id="17" name="Shape 14"/>
          <p:cNvSpPr/>
          <p:nvPr/>
        </p:nvSpPr>
        <p:spPr>
          <a:xfrm>
            <a:off x="5577840" y="3017520"/>
            <a:ext cx="3017520" cy="548640"/>
          </a:xfrm>
          <a:prstGeom prst="rect">
            <a:avLst/>
          </a:prstGeom>
          <a:solidFill>
            <a:srgbClr val="1A1A26"/>
          </a:solidFill>
          <a:ln w="6350">
            <a:solidFill>
              <a:srgbClr val="EAB308"/>
            </a:solidFill>
            <a:prstDash val="solid"/>
          </a:ln>
        </p:spPr>
      </p:sp>
      <p:sp>
        <p:nvSpPr>
          <p:cNvPr id="18" name="Text 15"/>
          <p:cNvSpPr/>
          <p:nvPr/>
        </p:nvSpPr>
        <p:spPr>
          <a:xfrm>
            <a:off x="5669280" y="3035808"/>
            <a:ext cx="2834640" cy="228600"/>
          </a:xfrm>
          <a:prstGeom prst="rect">
            <a:avLst/>
          </a:prstGeom>
          <a:noFill/>
          <a:ln/>
        </p:spPr>
        <p:txBody>
          <a:bodyPr wrap="square" lIns="0" tIns="0" rIns="0" bIns="0" rtlCol="0" anchor="ctr"/>
          <a:lstStyle/>
          <a:p>
            <a:pPr indent="0" marL="0">
              <a:buNone/>
            </a:pPr>
            <a:r>
              <a:rPr lang="en-US" sz="900" b="1" dirty="0">
                <a:solidFill>
                  <a:srgbClr val="EAB308"/>
                </a:solidFill>
                <a:latin typeface="Consolas" pitchFamily="34" charset="0"/>
                <a:ea typeface="Consolas" pitchFamily="34" charset="-122"/>
                <a:cs typeface="Consolas" pitchFamily="34" charset="-120"/>
              </a:rPr>
              <a:t>DRIFT = something internal</a:t>
            </a:r>
            <a:endParaRPr lang="en-US" sz="900" dirty="0"/>
          </a:p>
        </p:txBody>
      </p:sp>
      <p:sp>
        <p:nvSpPr>
          <p:cNvPr id="19" name="Text 16"/>
          <p:cNvSpPr/>
          <p:nvPr/>
        </p:nvSpPr>
        <p:spPr>
          <a:xfrm>
            <a:off x="5669280" y="3264408"/>
            <a:ext cx="2834640" cy="27432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No pressure, model oscillating.</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Hallucination or instability.</a:t>
            </a:r>
            <a:endParaRPr lang="en-US" sz="900" dirty="0"/>
          </a:p>
        </p:txBody>
      </p:sp>
      <p:sp>
        <p:nvSpPr>
          <p:cNvPr id="20" name="Shape 17"/>
          <p:cNvSpPr/>
          <p:nvPr/>
        </p:nvSpPr>
        <p:spPr>
          <a:xfrm>
            <a:off x="731520" y="4297680"/>
            <a:ext cx="7680960" cy="457200"/>
          </a:xfrm>
          <a:prstGeom prst="rect">
            <a:avLst/>
          </a:prstGeom>
          <a:solidFill>
            <a:srgbClr val="1A1A26"/>
          </a:solidFill>
          <a:ln w="6350">
            <a:solidFill>
              <a:srgbClr val="2A2A3A"/>
            </a:solidFill>
            <a:prstDash val="solid"/>
          </a:ln>
        </p:spPr>
      </p:sp>
      <p:sp>
        <p:nvSpPr>
          <p:cNvPr id="21" name="Text 18"/>
          <p:cNvSpPr/>
          <p:nvPr/>
        </p:nvSpPr>
        <p:spPr>
          <a:xfrm>
            <a:off x="1005840" y="4370832"/>
            <a:ext cx="7132320" cy="274320"/>
          </a:xfrm>
          <a:prstGeom prst="rect">
            <a:avLst/>
          </a:prstGeom>
          <a:noFill/>
          <a:ln/>
        </p:spPr>
        <p:txBody>
          <a:bodyPr wrap="square" lIns="0" tIns="0" rIns="0" bIns="0" rtlCol="0" anchor="ctr"/>
          <a:lstStyle/>
          <a:p>
            <a:pPr indent="0" marL="0">
              <a:buNone/>
            </a:pPr>
            <a:r>
              <a:rPr lang="en-US" sz="1200" dirty="0">
                <a:solidFill>
                  <a:srgbClr val="22C55E"/>
                </a:solidFill>
                <a:latin typeface="Calibri" pitchFamily="34" charset="0"/>
                <a:ea typeface="Calibri" pitchFamily="34" charset="-122"/>
                <a:cs typeface="Calibri" pitchFamily="34" charset="-120"/>
              </a:rPr>
              <a:t>No other monitoring system can generate the CRITICAL alert. It requires measuring both sides.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8</a:t>
            </a:r>
            <a:endParaRPr lang="en-US" sz="700" dirty="0"/>
          </a:p>
        </p:txBody>
      </p:sp>
      <p:sp>
        <p:nvSpPr>
          <p:cNvPr id="8" name="Text 6"/>
          <p:cNvSpPr/>
          <p:nvPr/>
        </p:nvSpPr>
        <p:spPr>
          <a:xfrm>
            <a:off x="731520" y="640080"/>
            <a:ext cx="7680960" cy="457200"/>
          </a:xfrm>
          <a:prstGeom prst="rect">
            <a:avLst/>
          </a:prstGeom>
          <a:noFill/>
          <a:ln/>
        </p:spPr>
        <p:txBody>
          <a:bodyPr wrap="square" lIns="0" tIns="0" rIns="0" bIns="0" rtlCol="0" anchor="ctr"/>
          <a:lstStyle/>
          <a:p>
            <a:pPr indent="0" marL="0">
              <a:buNone/>
            </a:pPr>
            <a:r>
              <a:rPr lang="en-US" sz="2600" b="1" dirty="0">
                <a:solidFill>
                  <a:srgbClr val="E8E8F0"/>
                </a:solidFill>
                <a:latin typeface="Georgia" pitchFamily="34" charset="0"/>
                <a:ea typeface="Georgia" pitchFamily="34" charset="-122"/>
                <a:cs typeface="Georgia" pitchFamily="34" charset="-120"/>
              </a:rPr>
              <a:t>Drop-in API proxy. One line of config.</a:t>
            </a:r>
            <a:endParaRPr lang="en-US" sz="2600" dirty="0"/>
          </a:p>
        </p:txBody>
      </p:sp>
      <p:sp>
        <p:nvSpPr>
          <p:cNvPr id="9" name="Shape 7"/>
          <p:cNvSpPr/>
          <p:nvPr/>
        </p:nvSpPr>
        <p:spPr>
          <a:xfrm>
            <a:off x="914400" y="1371600"/>
            <a:ext cx="2194560" cy="914400"/>
          </a:xfrm>
          <a:prstGeom prst="rect">
            <a:avLst/>
          </a:prstGeom>
          <a:solidFill>
            <a:srgbClr val="1A1A26"/>
          </a:solidFill>
          <a:ln w="6350">
            <a:solidFill>
              <a:srgbClr val="2A2A3A"/>
            </a:solidFill>
            <a:prstDash val="solid"/>
          </a:ln>
        </p:spPr>
      </p:sp>
      <p:sp>
        <p:nvSpPr>
          <p:cNvPr id="10" name="Text 8"/>
          <p:cNvSpPr/>
          <p:nvPr/>
        </p:nvSpPr>
        <p:spPr>
          <a:xfrm>
            <a:off x="914400" y="1417320"/>
            <a:ext cx="2194560" cy="457200"/>
          </a:xfrm>
          <a:prstGeom prst="rect">
            <a:avLst/>
          </a:prstGeom>
          <a:noFill/>
          <a:ln/>
        </p:spPr>
        <p:txBody>
          <a:bodyPr wrap="square" lIns="0" tIns="0" rIns="0" bIns="0" rtlCol="0" anchor="ctr"/>
          <a:lstStyle/>
          <a:p>
            <a:pPr algn="ctr" indent="0" marL="0">
              <a:buNone/>
            </a:pPr>
            <a:r>
              <a:rPr lang="en-US" sz="1400" b="1" dirty="0">
                <a:solidFill>
                  <a:srgbClr val="8888A0"/>
                </a:solidFill>
                <a:latin typeface="Consolas" pitchFamily="34" charset="0"/>
                <a:ea typeface="Consolas" pitchFamily="34" charset="-122"/>
                <a:cs typeface="Consolas" pitchFamily="34" charset="-120"/>
              </a:rPr>
              <a:t>Your App</a:t>
            </a:r>
            <a:endParaRPr lang="en-US" sz="1400" dirty="0"/>
          </a:p>
        </p:txBody>
      </p:sp>
      <p:sp>
        <p:nvSpPr>
          <p:cNvPr id="11" name="Text 9"/>
          <p:cNvSpPr/>
          <p:nvPr/>
        </p:nvSpPr>
        <p:spPr>
          <a:xfrm>
            <a:off x="914400" y="1828800"/>
            <a:ext cx="2194560" cy="320040"/>
          </a:xfrm>
          <a:prstGeom prst="rect">
            <a:avLst/>
          </a:prstGeom>
          <a:noFill/>
          <a:ln/>
        </p:spPr>
        <p:txBody>
          <a:bodyPr wrap="square" lIns="0" tIns="0" rIns="0" bIns="0" rtlCol="0" anchor="ctr"/>
          <a:lstStyle/>
          <a:p>
            <a:pPr algn="ctr" indent="0" marL="0">
              <a:buNone/>
            </a:pPr>
            <a:r>
              <a:rPr lang="en-US" sz="1000" dirty="0">
                <a:solidFill>
                  <a:srgbClr val="555568"/>
                </a:solidFill>
                <a:latin typeface="Calibri" pitchFamily="34" charset="0"/>
                <a:ea typeface="Calibri" pitchFamily="34" charset="-122"/>
                <a:cs typeface="Calibri" pitchFamily="34" charset="-120"/>
              </a:rPr>
              <a:t>API call</a:t>
            </a:r>
            <a:endParaRPr lang="en-US" sz="1000" dirty="0"/>
          </a:p>
        </p:txBody>
      </p:sp>
      <p:pic>
        <p:nvPicPr>
          <p:cNvPr id="12" name="Image 0" descr="preencoded.png">    </p:cNvPr>
          <p:cNvPicPr>
            <a:picLocks noChangeAspect="1"/>
          </p:cNvPicPr>
          <p:nvPr/>
        </p:nvPicPr>
        <p:blipFill>
          <a:blip r:embed="rId1"/>
          <a:stretch>
            <a:fillRect/>
          </a:stretch>
        </p:blipFill>
        <p:spPr>
          <a:xfrm>
            <a:off x="3291840" y="1645920"/>
            <a:ext cx="274320" cy="274320"/>
          </a:xfrm>
          <a:prstGeom prst="rect">
            <a:avLst/>
          </a:prstGeom>
        </p:spPr>
      </p:pic>
      <p:sp>
        <p:nvSpPr>
          <p:cNvPr id="13" name="Shape 10"/>
          <p:cNvSpPr/>
          <p:nvPr/>
        </p:nvSpPr>
        <p:spPr>
          <a:xfrm>
            <a:off x="3840480" y="1371600"/>
            <a:ext cx="2194560" cy="914400"/>
          </a:xfrm>
          <a:prstGeom prst="rect">
            <a:avLst/>
          </a:prstGeom>
          <a:solidFill>
            <a:srgbClr val="0D3320"/>
          </a:solidFill>
          <a:ln w="19050">
            <a:solidFill>
              <a:srgbClr val="22C55E"/>
            </a:solidFill>
            <a:prstDash val="solid"/>
          </a:ln>
        </p:spPr>
      </p:sp>
      <p:sp>
        <p:nvSpPr>
          <p:cNvPr id="14" name="Text 11"/>
          <p:cNvSpPr/>
          <p:nvPr/>
        </p:nvSpPr>
        <p:spPr>
          <a:xfrm>
            <a:off x="3840480" y="1417320"/>
            <a:ext cx="2194560" cy="457200"/>
          </a:xfrm>
          <a:prstGeom prst="rect">
            <a:avLst/>
          </a:prstGeom>
          <a:noFill/>
          <a:ln/>
        </p:spPr>
        <p:txBody>
          <a:bodyPr wrap="square" lIns="0" tIns="0" rIns="0" bIns="0" rtlCol="0" anchor="ctr"/>
          <a:lstStyle/>
          <a:p>
            <a:pPr algn="ctr" indent="0" marL="0">
              <a:buNone/>
            </a:pPr>
            <a:r>
              <a:rPr lang="en-US" sz="1400" b="1" dirty="0">
                <a:solidFill>
                  <a:srgbClr val="22C55E"/>
                </a:solidFill>
                <a:latin typeface="Consolas" pitchFamily="34" charset="0"/>
                <a:ea typeface="Consolas" pitchFamily="34" charset="-122"/>
                <a:cs typeface="Consolas" pitchFamily="34" charset="-120"/>
              </a:rPr>
              <a:t>PSA Proxy</a:t>
            </a:r>
            <a:endParaRPr lang="en-US" sz="1400" dirty="0"/>
          </a:p>
        </p:txBody>
      </p:sp>
      <p:sp>
        <p:nvSpPr>
          <p:cNvPr id="15" name="Text 12"/>
          <p:cNvSpPr/>
          <p:nvPr/>
        </p:nvSpPr>
        <p:spPr>
          <a:xfrm>
            <a:off x="3840480" y="1828800"/>
            <a:ext cx="2194560" cy="320040"/>
          </a:xfrm>
          <a:prstGeom prst="rect">
            <a:avLst/>
          </a:prstGeom>
          <a:noFill/>
          <a:ln/>
        </p:spPr>
        <p:txBody>
          <a:bodyPr wrap="square" lIns="0" tIns="0" rIns="0" bIns="0" rtlCol="0" anchor="ctr"/>
          <a:lstStyle/>
          <a:p>
            <a:pPr algn="ctr" indent="0" marL="0">
              <a:buNone/>
            </a:pPr>
            <a:r>
              <a:rPr lang="en-US" sz="1000" dirty="0">
                <a:solidFill>
                  <a:srgbClr val="555568"/>
                </a:solidFill>
                <a:latin typeface="Calibri" pitchFamily="34" charset="0"/>
                <a:ea typeface="Calibri" pitchFamily="34" charset="-122"/>
                <a:cs typeface="Calibri" pitchFamily="34" charset="-120"/>
              </a:rPr>
              <a:t>Intercept + classify</a:t>
            </a:r>
            <a:endParaRPr lang="en-US" sz="1000" dirty="0"/>
          </a:p>
        </p:txBody>
      </p:sp>
      <p:pic>
        <p:nvPicPr>
          <p:cNvPr id="16" name="Image 1" descr="preencoded.png">    </p:cNvPr>
          <p:cNvPicPr>
            <a:picLocks noChangeAspect="1"/>
          </p:cNvPicPr>
          <p:nvPr/>
        </p:nvPicPr>
        <p:blipFill>
          <a:blip r:embed="rId2"/>
          <a:stretch>
            <a:fillRect/>
          </a:stretch>
        </p:blipFill>
        <p:spPr>
          <a:xfrm>
            <a:off x="6217920" y="1645920"/>
            <a:ext cx="274320" cy="274320"/>
          </a:xfrm>
          <a:prstGeom prst="rect">
            <a:avLst/>
          </a:prstGeom>
        </p:spPr>
      </p:pic>
      <p:sp>
        <p:nvSpPr>
          <p:cNvPr id="17" name="Shape 13"/>
          <p:cNvSpPr/>
          <p:nvPr/>
        </p:nvSpPr>
        <p:spPr>
          <a:xfrm>
            <a:off x="6766560" y="1371600"/>
            <a:ext cx="2194560" cy="914400"/>
          </a:xfrm>
          <a:prstGeom prst="rect">
            <a:avLst/>
          </a:prstGeom>
          <a:solidFill>
            <a:srgbClr val="1A1A26"/>
          </a:solidFill>
          <a:ln w="6350">
            <a:solidFill>
              <a:srgbClr val="2A2A3A"/>
            </a:solidFill>
            <a:prstDash val="solid"/>
          </a:ln>
        </p:spPr>
      </p:sp>
      <p:sp>
        <p:nvSpPr>
          <p:cNvPr id="18" name="Text 14"/>
          <p:cNvSpPr/>
          <p:nvPr/>
        </p:nvSpPr>
        <p:spPr>
          <a:xfrm>
            <a:off x="6766560" y="1417320"/>
            <a:ext cx="2194560" cy="457200"/>
          </a:xfrm>
          <a:prstGeom prst="rect">
            <a:avLst/>
          </a:prstGeom>
          <a:noFill/>
          <a:ln/>
        </p:spPr>
        <p:txBody>
          <a:bodyPr wrap="square" lIns="0" tIns="0" rIns="0" bIns="0" rtlCol="0" anchor="ctr"/>
          <a:lstStyle/>
          <a:p>
            <a:pPr algn="ctr" indent="0" marL="0">
              <a:buNone/>
            </a:pPr>
            <a:r>
              <a:rPr lang="en-US" sz="1400" b="1" dirty="0">
                <a:solidFill>
                  <a:srgbClr val="8888A0"/>
                </a:solidFill>
                <a:latin typeface="Consolas" pitchFamily="34" charset="0"/>
                <a:ea typeface="Consolas" pitchFamily="34" charset="-122"/>
                <a:cs typeface="Consolas" pitchFamily="34" charset="-120"/>
              </a:rPr>
              <a:t>LLM API</a:t>
            </a:r>
            <a:endParaRPr lang="en-US" sz="1400" dirty="0"/>
          </a:p>
        </p:txBody>
      </p:sp>
      <p:sp>
        <p:nvSpPr>
          <p:cNvPr id="19" name="Text 15"/>
          <p:cNvSpPr/>
          <p:nvPr/>
        </p:nvSpPr>
        <p:spPr>
          <a:xfrm>
            <a:off x="6766560" y="1828800"/>
            <a:ext cx="2194560" cy="320040"/>
          </a:xfrm>
          <a:prstGeom prst="rect">
            <a:avLst/>
          </a:prstGeom>
          <a:noFill/>
          <a:ln/>
        </p:spPr>
        <p:txBody>
          <a:bodyPr wrap="square" lIns="0" tIns="0" rIns="0" bIns="0" rtlCol="0" anchor="ctr"/>
          <a:lstStyle/>
          <a:p>
            <a:pPr algn="ctr" indent="0" marL="0">
              <a:buNone/>
            </a:pPr>
            <a:r>
              <a:rPr lang="en-US" sz="1000" dirty="0">
                <a:solidFill>
                  <a:srgbClr val="555568"/>
                </a:solidFill>
                <a:latin typeface="Calibri" pitchFamily="34" charset="0"/>
                <a:ea typeface="Calibri" pitchFamily="34" charset="-122"/>
                <a:cs typeface="Calibri" pitchFamily="34" charset="-120"/>
              </a:rPr>
              <a:t>OpenAI / Anthropic / etc.</a:t>
            </a:r>
            <a:endParaRPr lang="en-US" sz="1000" dirty="0"/>
          </a:p>
        </p:txBody>
      </p:sp>
      <p:sp>
        <p:nvSpPr>
          <p:cNvPr id="20" name="Shape 16"/>
          <p:cNvSpPr/>
          <p:nvPr/>
        </p:nvSpPr>
        <p:spPr>
          <a:xfrm>
            <a:off x="731520" y="2651760"/>
            <a:ext cx="3657600" cy="822960"/>
          </a:xfrm>
          <a:prstGeom prst="rect">
            <a:avLst/>
          </a:prstGeom>
          <a:solidFill>
            <a:srgbClr val="1A1A26"/>
          </a:solidFill>
          <a:ln w="6350">
            <a:solidFill>
              <a:srgbClr val="2A2A3A"/>
            </a:solidFill>
            <a:prstDash val="solid"/>
          </a:ln>
        </p:spPr>
      </p:sp>
      <p:sp>
        <p:nvSpPr>
          <p:cNvPr id="21" name="Shape 17"/>
          <p:cNvSpPr/>
          <p:nvPr/>
        </p:nvSpPr>
        <p:spPr>
          <a:xfrm>
            <a:off x="731520" y="2651760"/>
            <a:ext cx="36576" cy="822960"/>
          </a:xfrm>
          <a:prstGeom prst="rect">
            <a:avLst/>
          </a:prstGeom>
          <a:solidFill>
            <a:srgbClr val="22C55E"/>
          </a:solidFill>
          <a:ln/>
        </p:spPr>
      </p:sp>
      <p:sp>
        <p:nvSpPr>
          <p:cNvPr id="22" name="Text 18"/>
          <p:cNvSpPr/>
          <p:nvPr/>
        </p:nvSpPr>
        <p:spPr>
          <a:xfrm>
            <a:off x="914400" y="2724912"/>
            <a:ext cx="3200400" cy="27432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Non-blocking</a:t>
            </a:r>
            <a:endParaRPr lang="en-US" sz="1200" dirty="0"/>
          </a:p>
        </p:txBody>
      </p:sp>
      <p:sp>
        <p:nvSpPr>
          <p:cNvPr id="23" name="Text 19"/>
          <p:cNvSpPr/>
          <p:nvPr/>
        </p:nvSpPr>
        <p:spPr>
          <a:xfrm>
            <a:off x="914400" y="2999232"/>
            <a:ext cx="3200400" cy="411480"/>
          </a:xfrm>
          <a:prstGeom prst="rect">
            <a:avLst/>
          </a:prstGeom>
          <a:noFill/>
          <a:ln/>
        </p:spPr>
        <p:txBody>
          <a:bodyPr wrap="square" lIns="0" tIns="0" rIns="0" bIns="0" rtlCol="0" anchor="ctr"/>
          <a:lstStyle/>
          <a:p>
            <a:pPr indent="0" marL="0">
              <a:buNone/>
            </a:pPr>
            <a:r>
              <a:rPr lang="en-US" sz="1000" dirty="0">
                <a:solidFill>
                  <a:srgbClr val="8888A0"/>
                </a:solidFill>
                <a:latin typeface="Calibri" pitchFamily="34" charset="0"/>
                <a:ea typeface="Calibri" pitchFamily="34" charset="-122"/>
                <a:cs typeface="Calibri" pitchFamily="34" charset="-120"/>
              </a:rPr>
              <a:t>Response forwarded immediately.</a:t>
            </a:r>
            <a:endParaRPr lang="en-US" sz="1000" dirty="0"/>
          </a:p>
          <a:p>
            <a:pPr indent="0" marL="0">
              <a:buNone/>
            </a:pPr>
            <a:r>
              <a:rPr lang="en-US" sz="1000" dirty="0">
                <a:solidFill>
                  <a:srgbClr val="8888A0"/>
                </a:solidFill>
                <a:latin typeface="Calibri" pitchFamily="34" charset="0"/>
                <a:ea typeface="Calibri" pitchFamily="34" charset="-122"/>
                <a:cs typeface="Calibri" pitchFamily="34" charset="-120"/>
              </a:rPr>
              <a:t>Analysis runs in parallel.</a:t>
            </a:r>
            <a:endParaRPr lang="en-US" sz="1000" dirty="0"/>
          </a:p>
        </p:txBody>
      </p:sp>
      <p:sp>
        <p:nvSpPr>
          <p:cNvPr id="24" name="Shape 20"/>
          <p:cNvSpPr/>
          <p:nvPr/>
        </p:nvSpPr>
        <p:spPr>
          <a:xfrm>
            <a:off x="4754880" y="2651760"/>
            <a:ext cx="3657600" cy="822960"/>
          </a:xfrm>
          <a:prstGeom prst="rect">
            <a:avLst/>
          </a:prstGeom>
          <a:solidFill>
            <a:srgbClr val="1A1A26"/>
          </a:solidFill>
          <a:ln w="6350">
            <a:solidFill>
              <a:srgbClr val="2A2A3A"/>
            </a:solidFill>
            <a:prstDash val="solid"/>
          </a:ln>
        </p:spPr>
      </p:sp>
      <p:sp>
        <p:nvSpPr>
          <p:cNvPr id="25" name="Shape 21"/>
          <p:cNvSpPr/>
          <p:nvPr/>
        </p:nvSpPr>
        <p:spPr>
          <a:xfrm>
            <a:off x="4754880" y="2651760"/>
            <a:ext cx="36576" cy="822960"/>
          </a:xfrm>
          <a:prstGeom prst="rect">
            <a:avLst/>
          </a:prstGeom>
          <a:solidFill>
            <a:srgbClr val="22C55E"/>
          </a:solidFill>
          <a:ln/>
        </p:spPr>
      </p:sp>
      <p:sp>
        <p:nvSpPr>
          <p:cNvPr id="26" name="Text 22"/>
          <p:cNvSpPr/>
          <p:nvPr/>
        </p:nvSpPr>
        <p:spPr>
          <a:xfrm>
            <a:off x="4937760" y="2724912"/>
            <a:ext cx="3200400" cy="27432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Model-agnostic</a:t>
            </a:r>
            <a:endParaRPr lang="en-US" sz="1200" dirty="0"/>
          </a:p>
        </p:txBody>
      </p:sp>
      <p:sp>
        <p:nvSpPr>
          <p:cNvPr id="27" name="Text 23"/>
          <p:cNvSpPr/>
          <p:nvPr/>
        </p:nvSpPr>
        <p:spPr>
          <a:xfrm>
            <a:off x="4937760" y="2999232"/>
            <a:ext cx="3200400" cy="411480"/>
          </a:xfrm>
          <a:prstGeom prst="rect">
            <a:avLst/>
          </a:prstGeom>
          <a:noFill/>
          <a:ln/>
        </p:spPr>
        <p:txBody>
          <a:bodyPr wrap="square" lIns="0" tIns="0" rIns="0" bIns="0" rtlCol="0" anchor="ctr"/>
          <a:lstStyle/>
          <a:p>
            <a:pPr indent="0" marL="0">
              <a:buNone/>
            </a:pPr>
            <a:r>
              <a:rPr lang="en-US" sz="1000" dirty="0">
                <a:solidFill>
                  <a:srgbClr val="8888A0"/>
                </a:solidFill>
                <a:latin typeface="Calibri" pitchFamily="34" charset="0"/>
                <a:ea typeface="Calibri" pitchFamily="34" charset="-122"/>
                <a:cs typeface="Calibri" pitchFamily="34" charset="-120"/>
              </a:rPr>
              <a:t>Works with any LLM API.</a:t>
            </a:r>
            <a:endParaRPr lang="en-US" sz="1000" dirty="0"/>
          </a:p>
          <a:p>
            <a:pPr indent="0" marL="0">
              <a:buNone/>
            </a:pPr>
            <a:r>
              <a:rPr lang="en-US" sz="1000" dirty="0">
                <a:solidFill>
                  <a:srgbClr val="8888A0"/>
                </a:solidFill>
                <a:latin typeface="Calibri" pitchFamily="34" charset="0"/>
                <a:ea typeface="Calibri" pitchFamily="34" charset="-122"/>
                <a:cs typeface="Calibri" pitchFamily="34" charset="-120"/>
              </a:rPr>
              <a:t>No model-specific config.</a:t>
            </a:r>
            <a:endParaRPr lang="en-US" sz="1000" dirty="0"/>
          </a:p>
        </p:txBody>
      </p:sp>
      <p:sp>
        <p:nvSpPr>
          <p:cNvPr id="28" name="Shape 24"/>
          <p:cNvSpPr/>
          <p:nvPr/>
        </p:nvSpPr>
        <p:spPr>
          <a:xfrm>
            <a:off x="731520" y="3657600"/>
            <a:ext cx="3657600" cy="822960"/>
          </a:xfrm>
          <a:prstGeom prst="rect">
            <a:avLst/>
          </a:prstGeom>
          <a:solidFill>
            <a:srgbClr val="1A1A26"/>
          </a:solidFill>
          <a:ln w="6350">
            <a:solidFill>
              <a:srgbClr val="2A2A3A"/>
            </a:solidFill>
            <a:prstDash val="solid"/>
          </a:ln>
        </p:spPr>
      </p:sp>
      <p:sp>
        <p:nvSpPr>
          <p:cNvPr id="29" name="Shape 25"/>
          <p:cNvSpPr/>
          <p:nvPr/>
        </p:nvSpPr>
        <p:spPr>
          <a:xfrm>
            <a:off x="731520" y="3657600"/>
            <a:ext cx="36576" cy="822960"/>
          </a:xfrm>
          <a:prstGeom prst="rect">
            <a:avLst/>
          </a:prstGeom>
          <a:solidFill>
            <a:srgbClr val="22C55E"/>
          </a:solidFill>
          <a:ln/>
        </p:spPr>
      </p:sp>
      <p:sp>
        <p:nvSpPr>
          <p:cNvPr id="30" name="Text 26"/>
          <p:cNvSpPr/>
          <p:nvPr/>
        </p:nvSpPr>
        <p:spPr>
          <a:xfrm>
            <a:off x="914400" y="3730752"/>
            <a:ext cx="3200400" cy="27432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Zero calibration</a:t>
            </a:r>
            <a:endParaRPr lang="en-US" sz="1200" dirty="0"/>
          </a:p>
        </p:txBody>
      </p:sp>
      <p:sp>
        <p:nvSpPr>
          <p:cNvPr id="31" name="Text 27"/>
          <p:cNvSpPr/>
          <p:nvPr/>
        </p:nvSpPr>
        <p:spPr>
          <a:xfrm>
            <a:off x="914400" y="4005072"/>
            <a:ext cx="3200400" cy="411480"/>
          </a:xfrm>
          <a:prstGeom prst="rect">
            <a:avLst/>
          </a:prstGeom>
          <a:noFill/>
          <a:ln/>
        </p:spPr>
        <p:txBody>
          <a:bodyPr wrap="square" lIns="0" tIns="0" rIns="0" bIns="0" rtlCol="0" anchor="ctr"/>
          <a:lstStyle/>
          <a:p>
            <a:pPr indent="0" marL="0">
              <a:buNone/>
            </a:pPr>
            <a:r>
              <a:rPr lang="en-US" sz="1000" dirty="0">
                <a:solidFill>
                  <a:srgbClr val="8888A0"/>
                </a:solidFill>
                <a:latin typeface="Calibri" pitchFamily="34" charset="0"/>
                <a:ea typeface="Calibri" pitchFamily="34" charset="-122"/>
                <a:cs typeface="Calibri" pitchFamily="34" charset="-120"/>
              </a:rPr>
              <a:t>Operational from first request.</a:t>
            </a:r>
            <a:endParaRPr lang="en-US" sz="1000" dirty="0"/>
          </a:p>
          <a:p>
            <a:pPr indent="0" marL="0">
              <a:buNone/>
            </a:pPr>
            <a:r>
              <a:rPr lang="en-US" sz="1000" dirty="0">
                <a:solidFill>
                  <a:srgbClr val="8888A0"/>
                </a:solidFill>
                <a:latin typeface="Calibri" pitchFamily="34" charset="0"/>
                <a:ea typeface="Calibri" pitchFamily="34" charset="-122"/>
                <a:cs typeface="Calibri" pitchFamily="34" charset="-120"/>
              </a:rPr>
              <a:t>No warm-up, no baselines.</a:t>
            </a:r>
            <a:endParaRPr lang="en-US" sz="1000" dirty="0"/>
          </a:p>
        </p:txBody>
      </p:sp>
      <p:sp>
        <p:nvSpPr>
          <p:cNvPr id="32" name="Shape 28"/>
          <p:cNvSpPr/>
          <p:nvPr/>
        </p:nvSpPr>
        <p:spPr>
          <a:xfrm>
            <a:off x="4754880" y="3657600"/>
            <a:ext cx="3657600" cy="822960"/>
          </a:xfrm>
          <a:prstGeom prst="rect">
            <a:avLst/>
          </a:prstGeom>
          <a:solidFill>
            <a:srgbClr val="1A1A26"/>
          </a:solidFill>
          <a:ln w="6350">
            <a:solidFill>
              <a:srgbClr val="2A2A3A"/>
            </a:solidFill>
            <a:prstDash val="solid"/>
          </a:ln>
        </p:spPr>
      </p:sp>
      <p:sp>
        <p:nvSpPr>
          <p:cNvPr id="33" name="Shape 29"/>
          <p:cNvSpPr/>
          <p:nvPr/>
        </p:nvSpPr>
        <p:spPr>
          <a:xfrm>
            <a:off x="4754880" y="3657600"/>
            <a:ext cx="36576" cy="822960"/>
          </a:xfrm>
          <a:prstGeom prst="rect">
            <a:avLst/>
          </a:prstGeom>
          <a:solidFill>
            <a:srgbClr val="22C55E"/>
          </a:solidFill>
          <a:ln/>
        </p:spPr>
      </p:sp>
      <p:sp>
        <p:nvSpPr>
          <p:cNvPr id="34" name="Text 30"/>
          <p:cNvSpPr/>
          <p:nvPr/>
        </p:nvSpPr>
        <p:spPr>
          <a:xfrm>
            <a:off x="4937760" y="3730752"/>
            <a:ext cx="3200400" cy="27432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SOC-grade dashboard</a:t>
            </a:r>
            <a:endParaRPr lang="en-US" sz="1200" dirty="0"/>
          </a:p>
        </p:txBody>
      </p:sp>
      <p:sp>
        <p:nvSpPr>
          <p:cNvPr id="35" name="Text 31"/>
          <p:cNvSpPr/>
          <p:nvPr/>
        </p:nvSpPr>
        <p:spPr>
          <a:xfrm>
            <a:off x="4937760" y="4005072"/>
            <a:ext cx="3200400" cy="411480"/>
          </a:xfrm>
          <a:prstGeom prst="rect">
            <a:avLst/>
          </a:prstGeom>
          <a:noFill/>
          <a:ln/>
        </p:spPr>
        <p:txBody>
          <a:bodyPr wrap="square" lIns="0" tIns="0" rIns="0" bIns="0" rtlCol="0" anchor="ctr"/>
          <a:lstStyle/>
          <a:p>
            <a:pPr indent="0" marL="0">
              <a:buNone/>
            </a:pPr>
            <a:r>
              <a:rPr lang="en-US" sz="1000" dirty="0">
                <a:solidFill>
                  <a:srgbClr val="8888A0"/>
                </a:solidFill>
                <a:latin typeface="Calibri" pitchFamily="34" charset="0"/>
                <a:ea typeface="Calibri" pitchFamily="34" charset="-122"/>
                <a:cs typeface="Calibri" pitchFamily="34" charset="-120"/>
              </a:rPr>
              <a:t>Real-time posture strips,</a:t>
            </a:r>
            <a:endParaRPr lang="en-US" sz="1000" dirty="0"/>
          </a:p>
          <a:p>
            <a:pPr indent="0" marL="0">
              <a:buNone/>
            </a:pPr>
            <a:r>
              <a:rPr lang="en-US" sz="1000" dirty="0">
                <a:solidFill>
                  <a:srgbClr val="8888A0"/>
                </a:solidFill>
                <a:latin typeface="Calibri" pitchFamily="34" charset="0"/>
                <a:ea typeface="Calibri" pitchFamily="34" charset="-122"/>
                <a:cs typeface="Calibri" pitchFamily="34" charset="-120"/>
              </a:rPr>
              <a:t>alert feed, session drill-down.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9</a:t>
            </a:r>
            <a:endParaRPr lang="en-US" sz="700" dirty="0"/>
          </a:p>
        </p:txBody>
      </p:sp>
      <p:sp>
        <p:nvSpPr>
          <p:cNvPr id="8" name="Text 6"/>
          <p:cNvSpPr/>
          <p:nvPr/>
        </p:nvSpPr>
        <p:spPr>
          <a:xfrm>
            <a:off x="731520" y="640080"/>
            <a:ext cx="7680960" cy="457200"/>
          </a:xfrm>
          <a:prstGeom prst="rect">
            <a:avLst/>
          </a:prstGeom>
          <a:noFill/>
          <a:ln/>
        </p:spPr>
        <p:txBody>
          <a:bodyPr wrap="square" lIns="0" tIns="0" rIns="0" bIns="0" rtlCol="0" anchor="ctr"/>
          <a:lstStyle/>
          <a:p>
            <a:pPr indent="0" marL="0">
              <a:buNone/>
            </a:pPr>
            <a:r>
              <a:rPr lang="en-US" sz="2800" b="1" dirty="0">
                <a:solidFill>
                  <a:srgbClr val="E8E8F0"/>
                </a:solidFill>
                <a:latin typeface="Georgia" pitchFamily="34" charset="0"/>
                <a:ea typeface="Georgia" pitchFamily="34" charset="-122"/>
                <a:cs typeface="Georgia" pitchFamily="34" charset="-120"/>
              </a:rPr>
              <a:t>The numbers.</a:t>
            </a:r>
            <a:endParaRPr lang="en-US" sz="2800" dirty="0"/>
          </a:p>
        </p:txBody>
      </p:sp>
      <p:sp>
        <p:nvSpPr>
          <p:cNvPr id="9" name="Shape 7"/>
          <p:cNvSpPr/>
          <p:nvPr/>
        </p:nvSpPr>
        <p:spPr>
          <a:xfrm>
            <a:off x="731520" y="1371600"/>
            <a:ext cx="2468880" cy="1463040"/>
          </a:xfrm>
          <a:prstGeom prst="rect">
            <a:avLst/>
          </a:prstGeom>
          <a:solidFill>
            <a:srgbClr val="1A1A26"/>
          </a:solidFill>
          <a:ln w="6350">
            <a:solidFill>
              <a:srgbClr val="2A2A3A"/>
            </a:solidFill>
            <a:prstDash val="solid"/>
          </a:ln>
        </p:spPr>
      </p:sp>
      <p:sp>
        <p:nvSpPr>
          <p:cNvPr id="10" name="Text 8"/>
          <p:cNvSpPr/>
          <p:nvPr/>
        </p:nvSpPr>
        <p:spPr>
          <a:xfrm>
            <a:off x="731520" y="1508760"/>
            <a:ext cx="2468880" cy="594360"/>
          </a:xfrm>
          <a:prstGeom prst="rect">
            <a:avLst/>
          </a:prstGeom>
          <a:noFill/>
          <a:ln/>
        </p:spPr>
        <p:txBody>
          <a:bodyPr wrap="square" lIns="0" tIns="0" rIns="0" bIns="0" rtlCol="0" anchor="ctr"/>
          <a:lstStyle/>
          <a:p>
            <a:pPr algn="ctr" indent="0" marL="0">
              <a:buNone/>
            </a:pPr>
            <a:r>
              <a:rPr lang="en-US" sz="3600" b="1" dirty="0">
                <a:solidFill>
                  <a:srgbClr val="22C55E"/>
                </a:solidFill>
                <a:latin typeface="Consolas" pitchFamily="34" charset="0"/>
                <a:ea typeface="Consolas" pitchFamily="34" charset="-122"/>
                <a:cs typeface="Consolas" pitchFamily="34" charset="-120"/>
              </a:rPr>
              <a:t>&lt; 1.5</a:t>
            </a:r>
            <a:pPr algn="ctr" indent="0" marL="0">
              <a:buNone/>
            </a:pPr>
            <a:r>
              <a:rPr lang="en-US" sz="1600" dirty="0">
                <a:solidFill>
                  <a:srgbClr val="555568"/>
                </a:solidFill>
                <a:latin typeface="Consolas" pitchFamily="34" charset="0"/>
                <a:ea typeface="Consolas" pitchFamily="34" charset="-122"/>
                <a:cs typeface="Consolas" pitchFamily="34" charset="-120"/>
              </a:rPr>
              <a:t> MB</a:t>
            </a:r>
            <a:endParaRPr lang="en-US" sz="3600" dirty="0"/>
          </a:p>
        </p:txBody>
      </p:sp>
      <p:sp>
        <p:nvSpPr>
          <p:cNvPr id="11" name="Text 9"/>
          <p:cNvSpPr/>
          <p:nvPr/>
        </p:nvSpPr>
        <p:spPr>
          <a:xfrm>
            <a:off x="914400" y="219456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Total model size on disk</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(all 5 classifiers)</a:t>
            </a:r>
            <a:endParaRPr lang="en-US" sz="1000" dirty="0"/>
          </a:p>
        </p:txBody>
      </p:sp>
      <p:sp>
        <p:nvSpPr>
          <p:cNvPr id="12" name="Shape 10"/>
          <p:cNvSpPr/>
          <p:nvPr/>
        </p:nvSpPr>
        <p:spPr>
          <a:xfrm>
            <a:off x="3474720" y="1371600"/>
            <a:ext cx="2468880" cy="1463040"/>
          </a:xfrm>
          <a:prstGeom prst="rect">
            <a:avLst/>
          </a:prstGeom>
          <a:solidFill>
            <a:srgbClr val="1A1A26"/>
          </a:solidFill>
          <a:ln w="6350">
            <a:solidFill>
              <a:srgbClr val="2A2A3A"/>
            </a:solidFill>
            <a:prstDash val="solid"/>
          </a:ln>
        </p:spPr>
      </p:sp>
      <p:sp>
        <p:nvSpPr>
          <p:cNvPr id="13" name="Text 11"/>
          <p:cNvSpPr/>
          <p:nvPr/>
        </p:nvSpPr>
        <p:spPr>
          <a:xfrm>
            <a:off x="3474720" y="1508760"/>
            <a:ext cx="2468880" cy="594360"/>
          </a:xfrm>
          <a:prstGeom prst="rect">
            <a:avLst/>
          </a:prstGeom>
          <a:noFill/>
          <a:ln/>
        </p:spPr>
        <p:txBody>
          <a:bodyPr wrap="square" lIns="0" tIns="0" rIns="0" bIns="0" rtlCol="0" anchor="ctr"/>
          <a:lstStyle/>
          <a:p>
            <a:pPr algn="ctr" indent="0" marL="0">
              <a:buNone/>
            </a:pPr>
            <a:r>
              <a:rPr lang="en-US" sz="3600" b="1" dirty="0">
                <a:solidFill>
                  <a:srgbClr val="22C55E"/>
                </a:solidFill>
                <a:latin typeface="Consolas" pitchFamily="34" charset="0"/>
                <a:ea typeface="Consolas" pitchFamily="34" charset="-122"/>
                <a:cs typeface="Consolas" pitchFamily="34" charset="-120"/>
              </a:rPr>
              <a:t>&lt; 3</a:t>
            </a:r>
            <a:pPr algn="ctr" indent="0" marL="0">
              <a:buNone/>
            </a:pPr>
            <a:r>
              <a:rPr lang="en-US" sz="1600" dirty="0">
                <a:solidFill>
                  <a:srgbClr val="555568"/>
                </a:solidFill>
                <a:latin typeface="Consolas" pitchFamily="34" charset="0"/>
                <a:ea typeface="Consolas" pitchFamily="34" charset="-122"/>
                <a:cs typeface="Consolas" pitchFamily="34" charset="-120"/>
              </a:rPr>
              <a:t> ms</a:t>
            </a:r>
            <a:endParaRPr lang="en-US" sz="3600" dirty="0"/>
          </a:p>
        </p:txBody>
      </p:sp>
      <p:sp>
        <p:nvSpPr>
          <p:cNvPr id="14" name="Text 12"/>
          <p:cNvSpPr/>
          <p:nvPr/>
        </p:nvSpPr>
        <p:spPr>
          <a:xfrm>
            <a:off x="3657600" y="219456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Inference time per request</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(CPU only)</a:t>
            </a:r>
            <a:endParaRPr lang="en-US" sz="1000" dirty="0"/>
          </a:p>
        </p:txBody>
      </p:sp>
      <p:sp>
        <p:nvSpPr>
          <p:cNvPr id="15" name="Shape 13"/>
          <p:cNvSpPr/>
          <p:nvPr/>
        </p:nvSpPr>
        <p:spPr>
          <a:xfrm>
            <a:off x="6217920" y="1371600"/>
            <a:ext cx="2468880" cy="1463040"/>
          </a:xfrm>
          <a:prstGeom prst="rect">
            <a:avLst/>
          </a:prstGeom>
          <a:solidFill>
            <a:srgbClr val="1A1A26"/>
          </a:solidFill>
          <a:ln w="6350">
            <a:solidFill>
              <a:srgbClr val="2A2A3A"/>
            </a:solidFill>
            <a:prstDash val="solid"/>
          </a:ln>
        </p:spPr>
      </p:sp>
      <p:sp>
        <p:nvSpPr>
          <p:cNvPr id="16" name="Text 14"/>
          <p:cNvSpPr/>
          <p:nvPr/>
        </p:nvSpPr>
        <p:spPr>
          <a:xfrm>
            <a:off x="6217920" y="1508760"/>
            <a:ext cx="2468880" cy="594360"/>
          </a:xfrm>
          <a:prstGeom prst="rect">
            <a:avLst/>
          </a:prstGeom>
          <a:noFill/>
          <a:ln/>
        </p:spPr>
        <p:txBody>
          <a:bodyPr wrap="square" lIns="0" tIns="0" rIns="0" bIns="0" rtlCol="0" anchor="ctr"/>
          <a:lstStyle/>
          <a:p>
            <a:pPr algn="ctr" indent="0" marL="0">
              <a:buNone/>
            </a:pPr>
            <a:r>
              <a:rPr lang="en-US" sz="3600" b="1" dirty="0">
                <a:solidFill>
                  <a:srgbClr val="22C55E"/>
                </a:solidFill>
                <a:latin typeface="Consolas" pitchFamily="34" charset="0"/>
                <a:ea typeface="Consolas" pitchFamily="34" charset="-122"/>
                <a:cs typeface="Consolas" pitchFamily="34" charset="-120"/>
              </a:rPr>
              <a:t>€5</a:t>
            </a:r>
            <a:pPr algn="ctr" indent="0" marL="0">
              <a:buNone/>
            </a:pPr>
            <a:r>
              <a:rPr lang="en-US" sz="1600" dirty="0">
                <a:solidFill>
                  <a:srgbClr val="555568"/>
                </a:solidFill>
                <a:latin typeface="Consolas" pitchFamily="34" charset="0"/>
                <a:ea typeface="Consolas" pitchFamily="34" charset="-122"/>
                <a:cs typeface="Consolas" pitchFamily="34" charset="-120"/>
              </a:rPr>
              <a:t> /mo</a:t>
            </a:r>
            <a:endParaRPr lang="en-US" sz="3600" dirty="0"/>
          </a:p>
        </p:txBody>
      </p:sp>
      <p:sp>
        <p:nvSpPr>
          <p:cNvPr id="17" name="Text 15"/>
          <p:cNvSpPr/>
          <p:nvPr/>
        </p:nvSpPr>
        <p:spPr>
          <a:xfrm>
            <a:off x="6400800" y="219456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Server infrastructure cost</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(commodity VPS)</a:t>
            </a:r>
            <a:endParaRPr lang="en-US" sz="1000" dirty="0"/>
          </a:p>
        </p:txBody>
      </p:sp>
      <p:sp>
        <p:nvSpPr>
          <p:cNvPr id="18" name="Shape 16"/>
          <p:cNvSpPr/>
          <p:nvPr/>
        </p:nvSpPr>
        <p:spPr>
          <a:xfrm>
            <a:off x="731520" y="3108960"/>
            <a:ext cx="2468880" cy="1463040"/>
          </a:xfrm>
          <a:prstGeom prst="rect">
            <a:avLst/>
          </a:prstGeom>
          <a:solidFill>
            <a:srgbClr val="1A1A26"/>
          </a:solidFill>
          <a:ln w="6350">
            <a:solidFill>
              <a:srgbClr val="2A2A3A"/>
            </a:solidFill>
            <a:prstDash val="solid"/>
          </a:ln>
        </p:spPr>
      </p:sp>
      <p:sp>
        <p:nvSpPr>
          <p:cNvPr id="19" name="Text 17"/>
          <p:cNvSpPr/>
          <p:nvPr/>
        </p:nvSpPr>
        <p:spPr>
          <a:xfrm>
            <a:off x="731520" y="3246120"/>
            <a:ext cx="2468880" cy="594360"/>
          </a:xfrm>
          <a:prstGeom prst="rect">
            <a:avLst/>
          </a:prstGeom>
          <a:noFill/>
          <a:ln/>
        </p:spPr>
        <p:txBody>
          <a:bodyPr wrap="square" lIns="0" tIns="0" rIns="0" bIns="0" rtlCol="0" anchor="ctr"/>
          <a:lstStyle/>
          <a:p>
            <a:pPr algn="ctr" indent="0" marL="0">
              <a:buNone/>
            </a:pPr>
            <a:r>
              <a:rPr lang="en-US" sz="3600" b="1" dirty="0">
                <a:solidFill>
                  <a:srgbClr val="6366F1"/>
                </a:solidFill>
                <a:latin typeface="Consolas" pitchFamily="34" charset="0"/>
                <a:ea typeface="Consolas" pitchFamily="34" charset="-122"/>
                <a:cs typeface="Consolas" pitchFamily="34" charset="-120"/>
              </a:rPr>
              <a:t>56</a:t>
            </a:r>
            <a:pPr algn="ctr" indent="0" marL="0">
              <a:buNone/>
            </a:pPr>
            <a:r>
              <a:rPr lang="en-US" sz="1600" dirty="0">
                <a:solidFill>
                  <a:srgbClr val="555568"/>
                </a:solidFill>
                <a:latin typeface="Consolas" pitchFamily="34" charset="0"/>
                <a:ea typeface="Consolas" pitchFamily="34" charset="-122"/>
                <a:cs typeface="Consolas" pitchFamily="34" charset="-120"/>
              </a:rPr>
              <a:t> </a:t>
            </a:r>
            <a:endParaRPr lang="en-US" sz="3600" dirty="0"/>
          </a:p>
        </p:txBody>
      </p:sp>
      <p:sp>
        <p:nvSpPr>
          <p:cNvPr id="20" name="Text 18"/>
          <p:cNvSpPr/>
          <p:nvPr/>
        </p:nvSpPr>
        <p:spPr>
          <a:xfrm>
            <a:off x="914400" y="393192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Behavioral postures</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classified per sentence</a:t>
            </a:r>
            <a:endParaRPr lang="en-US" sz="1000" dirty="0"/>
          </a:p>
        </p:txBody>
      </p:sp>
      <p:sp>
        <p:nvSpPr>
          <p:cNvPr id="21" name="Shape 19"/>
          <p:cNvSpPr/>
          <p:nvPr/>
        </p:nvSpPr>
        <p:spPr>
          <a:xfrm>
            <a:off x="3474720" y="3108960"/>
            <a:ext cx="2468880" cy="1463040"/>
          </a:xfrm>
          <a:prstGeom prst="rect">
            <a:avLst/>
          </a:prstGeom>
          <a:solidFill>
            <a:srgbClr val="1A1A26"/>
          </a:solidFill>
          <a:ln w="6350">
            <a:solidFill>
              <a:srgbClr val="2A2A3A"/>
            </a:solidFill>
            <a:prstDash val="solid"/>
          </a:ln>
        </p:spPr>
      </p:sp>
      <p:sp>
        <p:nvSpPr>
          <p:cNvPr id="22" name="Text 20"/>
          <p:cNvSpPr/>
          <p:nvPr/>
        </p:nvSpPr>
        <p:spPr>
          <a:xfrm>
            <a:off x="3474720" y="3246120"/>
            <a:ext cx="2468880" cy="594360"/>
          </a:xfrm>
          <a:prstGeom prst="rect">
            <a:avLst/>
          </a:prstGeom>
          <a:noFill/>
          <a:ln/>
        </p:spPr>
        <p:txBody>
          <a:bodyPr wrap="square" lIns="0" tIns="0" rIns="0" bIns="0" rtlCol="0" anchor="ctr"/>
          <a:lstStyle/>
          <a:p>
            <a:pPr algn="ctr" indent="0" marL="0">
              <a:buNone/>
            </a:pPr>
            <a:r>
              <a:rPr lang="en-US" sz="3600" b="1" dirty="0">
                <a:solidFill>
                  <a:srgbClr val="6366F1"/>
                </a:solidFill>
                <a:latin typeface="Consolas" pitchFamily="34" charset="0"/>
                <a:ea typeface="Consolas" pitchFamily="34" charset="-122"/>
                <a:cs typeface="Consolas" pitchFamily="34" charset="-120"/>
              </a:rPr>
              <a:t>0</a:t>
            </a:r>
            <a:pPr algn="ctr" indent="0" marL="0">
              <a:buNone/>
            </a:pPr>
            <a:r>
              <a:rPr lang="en-US" sz="1600" dirty="0">
                <a:solidFill>
                  <a:srgbClr val="555568"/>
                </a:solidFill>
                <a:latin typeface="Consolas" pitchFamily="34" charset="0"/>
                <a:ea typeface="Consolas" pitchFamily="34" charset="-122"/>
                <a:cs typeface="Consolas" pitchFamily="34" charset="-120"/>
              </a:rPr>
              <a:t> </a:t>
            </a:r>
            <a:endParaRPr lang="en-US" sz="3600" dirty="0"/>
          </a:p>
        </p:txBody>
      </p:sp>
      <p:sp>
        <p:nvSpPr>
          <p:cNvPr id="23" name="Text 21"/>
          <p:cNvSpPr/>
          <p:nvPr/>
        </p:nvSpPr>
        <p:spPr>
          <a:xfrm>
            <a:off x="3657600" y="393192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External dependencies</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GPU · cloud APIs · LLMs</a:t>
            </a:r>
            <a:endParaRPr lang="en-US" sz="1000" dirty="0"/>
          </a:p>
        </p:txBody>
      </p:sp>
      <p:sp>
        <p:nvSpPr>
          <p:cNvPr id="24" name="Shape 22"/>
          <p:cNvSpPr/>
          <p:nvPr/>
        </p:nvSpPr>
        <p:spPr>
          <a:xfrm>
            <a:off x="6217920" y="3108960"/>
            <a:ext cx="2468880" cy="1463040"/>
          </a:xfrm>
          <a:prstGeom prst="rect">
            <a:avLst/>
          </a:prstGeom>
          <a:solidFill>
            <a:srgbClr val="1A1A26"/>
          </a:solidFill>
          <a:ln w="6350">
            <a:solidFill>
              <a:srgbClr val="2A2A3A"/>
            </a:solidFill>
            <a:prstDash val="solid"/>
          </a:ln>
        </p:spPr>
      </p:sp>
      <p:sp>
        <p:nvSpPr>
          <p:cNvPr id="25" name="Text 23"/>
          <p:cNvSpPr/>
          <p:nvPr/>
        </p:nvSpPr>
        <p:spPr>
          <a:xfrm>
            <a:off x="6217920" y="3246120"/>
            <a:ext cx="2468880" cy="594360"/>
          </a:xfrm>
          <a:prstGeom prst="rect">
            <a:avLst/>
          </a:prstGeom>
          <a:noFill/>
          <a:ln/>
        </p:spPr>
        <p:txBody>
          <a:bodyPr wrap="square" lIns="0" tIns="0" rIns="0" bIns="0" rtlCol="0" anchor="ctr"/>
          <a:lstStyle/>
          <a:p>
            <a:pPr algn="ctr" indent="0" marL="0">
              <a:buNone/>
            </a:pPr>
            <a:r>
              <a:rPr lang="en-US" sz="3600" b="1" dirty="0">
                <a:solidFill>
                  <a:srgbClr val="6366F1"/>
                </a:solidFill>
                <a:latin typeface="Consolas" pitchFamily="34" charset="0"/>
                <a:ea typeface="Consolas" pitchFamily="34" charset="-122"/>
                <a:cs typeface="Consolas" pitchFamily="34" charset="-120"/>
              </a:rPr>
              <a:t>6</a:t>
            </a:r>
            <a:pPr algn="ctr" indent="0" marL="0">
              <a:buNone/>
            </a:pPr>
            <a:r>
              <a:rPr lang="en-US" sz="1600" dirty="0">
                <a:solidFill>
                  <a:srgbClr val="555568"/>
                </a:solidFill>
                <a:latin typeface="Consolas" pitchFamily="34" charset="0"/>
                <a:ea typeface="Consolas" pitchFamily="34" charset="-122"/>
                <a:cs typeface="Consolas" pitchFamily="34" charset="-120"/>
              </a:rPr>
              <a:t> </a:t>
            </a:r>
            <a:endParaRPr lang="en-US" sz="3600" dirty="0"/>
          </a:p>
        </p:txBody>
      </p:sp>
      <p:sp>
        <p:nvSpPr>
          <p:cNvPr id="26" name="Text 24"/>
          <p:cNvSpPr/>
          <p:nvPr/>
        </p:nvSpPr>
        <p:spPr>
          <a:xfrm>
            <a:off x="6400800" y="3931920"/>
            <a:ext cx="2103120" cy="548640"/>
          </a:xfrm>
          <a:prstGeom prst="rect">
            <a:avLst/>
          </a:prstGeom>
          <a:noFill/>
          <a:ln/>
        </p:spPr>
        <p:txBody>
          <a:bodyPr wrap="square" lIns="0" tIns="0" rIns="0" bIns="0" rtlCol="0" anchor="ctr"/>
          <a:lstStyle/>
          <a:p>
            <a:pPr algn="ctr" indent="0" marL="0">
              <a:buNone/>
            </a:pPr>
            <a:r>
              <a:rPr lang="en-US" sz="1000" dirty="0">
                <a:solidFill>
                  <a:srgbClr val="8888A0"/>
                </a:solidFill>
                <a:latin typeface="Calibri" pitchFamily="34" charset="0"/>
                <a:ea typeface="Calibri" pitchFamily="34" charset="-122"/>
                <a:cs typeface="Calibri" pitchFamily="34" charset="-120"/>
              </a:rPr>
              <a:t>Languages supported</a:t>
            </a:r>
            <a:endParaRPr lang="en-US" sz="1000" dirty="0"/>
          </a:p>
          <a:p>
            <a:pPr algn="ctr" indent="0" marL="0">
              <a:buNone/>
            </a:pPr>
            <a:r>
              <a:rPr lang="en-US" sz="1000" dirty="0">
                <a:solidFill>
                  <a:srgbClr val="8888A0"/>
                </a:solidFill>
                <a:latin typeface="Calibri" pitchFamily="34" charset="0"/>
                <a:ea typeface="Calibri" pitchFamily="34" charset="-122"/>
                <a:cs typeface="Calibri" pitchFamily="34" charset="-120"/>
              </a:rPr>
              <a:t>(single unified model)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2121A"/>
          </a:solidFill>
          <a:ln/>
        </p:spPr>
      </p:sp>
      <p:sp>
        <p:nvSpPr>
          <p:cNvPr id="3" name="Shape 1"/>
          <p:cNvSpPr/>
          <p:nvPr/>
        </p:nvSpPr>
        <p:spPr>
          <a:xfrm>
            <a:off x="0" y="411480"/>
            <a:ext cx="9144000" cy="9144"/>
          </a:xfrm>
          <a:prstGeom prst="rect">
            <a:avLst/>
          </a:prstGeom>
          <a:solidFill>
            <a:srgbClr val="2A2A3A"/>
          </a:solidFill>
          <a:ln/>
        </p:spPr>
      </p:sp>
      <p:sp>
        <p:nvSpPr>
          <p:cNvPr id="4" name="Text 2"/>
          <p:cNvSpPr/>
          <p:nvPr/>
        </p:nvSpPr>
        <p:spPr>
          <a:xfrm>
            <a:off x="457200" y="73152"/>
            <a:ext cx="2743200" cy="274320"/>
          </a:xfrm>
          <a:prstGeom prst="rect">
            <a:avLst/>
          </a:prstGeom>
          <a:noFill/>
          <a:ln/>
        </p:spPr>
        <p:txBody>
          <a:bodyPr wrap="square" lIns="0" tIns="0" rIns="0" bIns="0" rtlCol="0" anchor="ctr"/>
          <a:lstStyle/>
          <a:p>
            <a:pPr indent="0" marL="0">
              <a:buNone/>
            </a:pPr>
            <a:r>
              <a:rPr lang="en-US" sz="900" b="1" spc="300" kern="0" dirty="0">
                <a:solidFill>
                  <a:srgbClr val="22C55E"/>
                </a:solidFill>
                <a:latin typeface="Consolas" pitchFamily="34" charset="0"/>
                <a:ea typeface="Consolas" pitchFamily="34" charset="-122"/>
                <a:cs typeface="Consolas" pitchFamily="34" charset="-120"/>
              </a:rPr>
              <a:t>SILICON PSYCHE LABS</a:t>
            </a:r>
            <a:endParaRPr lang="en-US" sz="900" dirty="0"/>
          </a:p>
        </p:txBody>
      </p:sp>
      <p:sp>
        <p:nvSpPr>
          <p:cNvPr id="5" name="Shape 3"/>
          <p:cNvSpPr/>
          <p:nvPr/>
        </p:nvSpPr>
        <p:spPr>
          <a:xfrm>
            <a:off x="0" y="4892040"/>
            <a:ext cx="9144000" cy="9144"/>
          </a:xfrm>
          <a:prstGeom prst="rect">
            <a:avLst/>
          </a:prstGeom>
          <a:solidFill>
            <a:srgbClr val="2A2A3A"/>
          </a:solidFill>
          <a:ln/>
        </p:spPr>
      </p:sp>
      <p:sp>
        <p:nvSpPr>
          <p:cNvPr id="6" name="Text 4"/>
          <p:cNvSpPr/>
          <p:nvPr/>
        </p:nvSpPr>
        <p:spPr>
          <a:xfrm>
            <a:off x="457200" y="4919472"/>
            <a:ext cx="1828800" cy="182880"/>
          </a:xfrm>
          <a:prstGeom prst="rect">
            <a:avLst/>
          </a:prstGeom>
          <a:noFill/>
          <a:ln/>
        </p:spPr>
        <p:txBody>
          <a:bodyPr wrap="square" lIns="0" tIns="0" rIns="0" bIns="0" rtlCol="0" anchor="ctr"/>
          <a:lstStyle/>
          <a:p>
            <a:pPr indent="0" marL="0">
              <a:buNone/>
            </a:pPr>
            <a:r>
              <a:rPr lang="en-US" sz="700" dirty="0">
                <a:solidFill>
                  <a:srgbClr val="555568"/>
                </a:solidFill>
                <a:latin typeface="Consolas" pitchFamily="34" charset="0"/>
                <a:ea typeface="Consolas" pitchFamily="34" charset="-122"/>
                <a:cs typeface="Consolas" pitchFamily="34" charset="-120"/>
              </a:rPr>
              <a:t>CONFIDENTIAL</a:t>
            </a:r>
            <a:endParaRPr lang="en-US" sz="700" dirty="0"/>
          </a:p>
        </p:txBody>
      </p:sp>
      <p:sp>
        <p:nvSpPr>
          <p:cNvPr id="7" name="Text 5"/>
          <p:cNvSpPr/>
          <p:nvPr/>
        </p:nvSpPr>
        <p:spPr>
          <a:xfrm>
            <a:off x="8229600" y="4919472"/>
            <a:ext cx="457200" cy="182880"/>
          </a:xfrm>
          <a:prstGeom prst="rect">
            <a:avLst/>
          </a:prstGeom>
          <a:noFill/>
          <a:ln/>
        </p:spPr>
        <p:txBody>
          <a:bodyPr wrap="square" lIns="0" tIns="0" rIns="0" bIns="0" rtlCol="0" anchor="ctr"/>
          <a:lstStyle/>
          <a:p>
            <a:pPr algn="r" indent="0" marL="0">
              <a:buNone/>
            </a:pPr>
            <a:r>
              <a:rPr lang="en-US" sz="700" dirty="0">
                <a:solidFill>
                  <a:srgbClr val="555568"/>
                </a:solidFill>
                <a:latin typeface="Consolas" pitchFamily="34" charset="0"/>
                <a:ea typeface="Consolas" pitchFamily="34" charset="-122"/>
                <a:cs typeface="Consolas" pitchFamily="34" charset="-120"/>
              </a:rPr>
              <a:t>10</a:t>
            </a:r>
            <a:endParaRPr lang="en-US" sz="700" dirty="0"/>
          </a:p>
        </p:txBody>
      </p:sp>
      <p:sp>
        <p:nvSpPr>
          <p:cNvPr id="8" name="Text 6"/>
          <p:cNvSpPr/>
          <p:nvPr/>
        </p:nvSpPr>
        <p:spPr>
          <a:xfrm>
            <a:off x="731520" y="640080"/>
            <a:ext cx="7680960" cy="457200"/>
          </a:xfrm>
          <a:prstGeom prst="rect">
            <a:avLst/>
          </a:prstGeom>
          <a:noFill/>
          <a:ln/>
        </p:spPr>
        <p:txBody>
          <a:bodyPr wrap="square" lIns="0" tIns="0" rIns="0" bIns="0" rtlCol="0" anchor="ctr"/>
          <a:lstStyle/>
          <a:p>
            <a:pPr indent="0" marL="0">
              <a:buNone/>
            </a:pPr>
            <a:r>
              <a:rPr lang="en-US" sz="2600" b="1" dirty="0">
                <a:solidFill>
                  <a:srgbClr val="E8E8F0"/>
                </a:solidFill>
                <a:latin typeface="Georgia" pitchFamily="34" charset="0"/>
                <a:ea typeface="Georgia" pitchFamily="34" charset="-122"/>
                <a:cs typeface="Georgia" pitchFamily="34" charset="-120"/>
              </a:rPr>
              <a:t>Market &amp; pricing.</a:t>
            </a:r>
            <a:endParaRPr lang="en-US" sz="2600" dirty="0"/>
          </a:p>
        </p:txBody>
      </p:sp>
      <p:sp>
        <p:nvSpPr>
          <p:cNvPr id="9" name="Text 7"/>
          <p:cNvSpPr/>
          <p:nvPr/>
        </p:nvSpPr>
        <p:spPr>
          <a:xfrm>
            <a:off x="731520" y="1143000"/>
            <a:ext cx="7315200" cy="274320"/>
          </a:xfrm>
          <a:prstGeom prst="rect">
            <a:avLst/>
          </a:prstGeom>
          <a:noFill/>
          <a:ln/>
        </p:spPr>
        <p:txBody>
          <a:bodyPr wrap="square" lIns="0" tIns="0" rIns="0" bIns="0" rtlCol="0" anchor="ctr"/>
          <a:lstStyle/>
          <a:p>
            <a:pPr indent="0" marL="0">
              <a:buNone/>
            </a:pPr>
            <a:r>
              <a:rPr lang="en-US" sz="1300" dirty="0">
                <a:solidFill>
                  <a:srgbClr val="8888A0"/>
                </a:solidFill>
                <a:latin typeface="Calibri" pitchFamily="34" charset="0"/>
                <a:ea typeface="Calibri" pitchFamily="34" charset="-122"/>
                <a:cs typeface="Calibri" pitchFamily="34" charset="-120"/>
              </a:rPr>
              <a:t>Every company deploying an LLM via API is a customer.</a:t>
            </a:r>
            <a:endParaRPr lang="en-US" sz="1300" dirty="0"/>
          </a:p>
        </p:txBody>
      </p:sp>
      <p:sp>
        <p:nvSpPr>
          <p:cNvPr id="10" name="Shape 8"/>
          <p:cNvSpPr/>
          <p:nvPr/>
        </p:nvSpPr>
        <p:spPr>
          <a:xfrm>
            <a:off x="731520" y="1645920"/>
            <a:ext cx="3657600" cy="2926080"/>
          </a:xfrm>
          <a:prstGeom prst="rect">
            <a:avLst/>
          </a:prstGeom>
          <a:solidFill>
            <a:srgbClr val="1A1A26"/>
          </a:solidFill>
          <a:ln w="6350">
            <a:solidFill>
              <a:srgbClr val="2A2A3A"/>
            </a:solidFill>
            <a:prstDash val="solid"/>
          </a:ln>
        </p:spPr>
      </p:sp>
      <p:sp>
        <p:nvSpPr>
          <p:cNvPr id="11" name="Text 9"/>
          <p:cNvSpPr/>
          <p:nvPr/>
        </p:nvSpPr>
        <p:spPr>
          <a:xfrm>
            <a:off x="914400" y="1783080"/>
            <a:ext cx="3291840" cy="228600"/>
          </a:xfrm>
          <a:prstGeom prst="rect">
            <a:avLst/>
          </a:prstGeom>
          <a:noFill/>
          <a:ln/>
        </p:spPr>
        <p:txBody>
          <a:bodyPr wrap="square" lIns="0" tIns="0" rIns="0" bIns="0" rtlCol="0" anchor="ctr"/>
          <a:lstStyle/>
          <a:p>
            <a:pPr indent="0" marL="0">
              <a:buNone/>
            </a:pPr>
            <a:r>
              <a:rPr lang="en-US" sz="900" dirty="0">
                <a:solidFill>
                  <a:srgbClr val="22C55E"/>
                </a:solidFill>
                <a:latin typeface="Consolas" pitchFamily="34" charset="0"/>
                <a:ea typeface="Consolas" pitchFamily="34" charset="-122"/>
                <a:cs typeface="Consolas" pitchFamily="34" charset="-120"/>
              </a:rPr>
              <a:t>WHO NEEDS THIS</a:t>
            </a:r>
            <a:endParaRPr lang="en-US" sz="900" dirty="0"/>
          </a:p>
        </p:txBody>
      </p:sp>
      <p:sp>
        <p:nvSpPr>
          <p:cNvPr id="12" name="Text 10"/>
          <p:cNvSpPr/>
          <p:nvPr/>
        </p:nvSpPr>
        <p:spPr>
          <a:xfrm>
            <a:off x="914400" y="2103120"/>
            <a:ext cx="3291840" cy="2194560"/>
          </a:xfrm>
          <a:prstGeom prst="rect">
            <a:avLst/>
          </a:prstGeom>
          <a:noFill/>
          <a:ln/>
        </p:spPr>
        <p:txBody>
          <a:bodyPr wrap="square" lIns="0" tIns="0" rIns="0" bIns="0" rtlCol="0" anchor="ctr"/>
          <a:lstStyle/>
          <a:p>
            <a:pPr indent="0" marL="0">
              <a:buNone/>
            </a:pPr>
            <a:r>
              <a:rPr lang="en-US" sz="1200" b="1" dirty="0">
                <a:solidFill>
                  <a:srgbClr val="E8E8F0"/>
                </a:solidFill>
                <a:latin typeface="Calibri" pitchFamily="34" charset="0"/>
                <a:ea typeface="Calibri" pitchFamily="34" charset="-122"/>
                <a:cs typeface="Calibri" pitchFamily="34" charset="-120"/>
              </a:rPr>
              <a:t>Chatbots &amp; copilots</a:t>
            </a:r>
            <a:endParaRPr lang="en-US" sz="1200" dirty="0"/>
          </a:p>
          <a:p>
            <a:pPr indent="0" marL="0">
              <a:buNone/>
            </a:pPr>
            <a:r>
              <a:rPr lang="en-US" sz="1000" dirty="0">
                <a:solidFill>
                  <a:srgbClr val="8888A0"/>
                </a:solidFill>
                <a:latin typeface="Calibri" pitchFamily="34" charset="0"/>
                <a:ea typeface="Calibri" pitchFamily="34" charset="-122"/>
                <a:cs typeface="Calibri" pitchFamily="34" charset="-120"/>
              </a:rPr>
              <a:t>Any user-facing LLM integration
</a:t>
            </a:r>
            <a:endParaRPr lang="en-US" sz="1200" dirty="0"/>
          </a:p>
          <a:p>
            <a:pPr indent="0" marL="0">
              <a:buNone/>
            </a:pPr>
            <a:r>
              <a:rPr lang="en-US" sz="1200" b="1" dirty="0">
                <a:solidFill>
                  <a:srgbClr val="E8E8F0"/>
                </a:solidFill>
                <a:latin typeface="Calibri" pitchFamily="34" charset="0"/>
                <a:ea typeface="Calibri" pitchFamily="34" charset="-122"/>
                <a:cs typeface="Calibri" pitchFamily="34" charset="-120"/>
              </a:rPr>
              <a:t>AI-powered SaaS</a:t>
            </a:r>
            <a:endParaRPr lang="en-US" sz="1200" dirty="0"/>
          </a:p>
          <a:p>
            <a:pPr indent="0" marL="0">
              <a:buNone/>
            </a:pPr>
            <a:r>
              <a:rPr lang="en-US" sz="1000" dirty="0">
                <a:solidFill>
                  <a:srgbClr val="8888A0"/>
                </a:solidFill>
                <a:latin typeface="Calibri" pitchFamily="34" charset="0"/>
                <a:ea typeface="Calibri" pitchFamily="34" charset="-122"/>
                <a:cs typeface="Calibri" pitchFamily="34" charset="-120"/>
              </a:rPr>
              <a:t>Customer support, content generation, code assist
</a:t>
            </a:r>
            <a:endParaRPr lang="en-US" sz="1200" dirty="0"/>
          </a:p>
          <a:p>
            <a:pPr indent="0" marL="0">
              <a:buNone/>
            </a:pPr>
            <a:r>
              <a:rPr lang="en-US" sz="1200" b="1" dirty="0">
                <a:solidFill>
                  <a:srgbClr val="E8E8F0"/>
                </a:solidFill>
                <a:latin typeface="Calibri" pitchFamily="34" charset="0"/>
                <a:ea typeface="Calibri" pitchFamily="34" charset="-122"/>
                <a:cs typeface="Calibri" pitchFamily="34" charset="-120"/>
              </a:rPr>
              <a:t>Enterprise AI deployments</a:t>
            </a:r>
            <a:endParaRPr lang="en-US" sz="1200" dirty="0"/>
          </a:p>
          <a:p>
            <a:pPr indent="0" marL="0">
              <a:buNone/>
            </a:pPr>
            <a:r>
              <a:rPr lang="en-US" sz="1000" dirty="0">
                <a:solidFill>
                  <a:srgbClr val="8888A0"/>
                </a:solidFill>
                <a:latin typeface="Calibri" pitchFamily="34" charset="0"/>
                <a:ea typeface="Calibri" pitchFamily="34" charset="-122"/>
                <a:cs typeface="Calibri" pitchFamily="34" charset="-120"/>
              </a:rPr>
              <a:t>Internal tools, data analysis, automated workflows
</a:t>
            </a:r>
            <a:endParaRPr lang="en-US" sz="1200" dirty="0"/>
          </a:p>
          <a:p>
            <a:pPr indent="0" marL="0">
              <a:buNone/>
            </a:pPr>
            <a:r>
              <a:rPr lang="en-US" sz="1200" b="1" dirty="0">
                <a:solidFill>
                  <a:srgbClr val="E8E8F0"/>
                </a:solidFill>
                <a:latin typeface="Calibri" pitchFamily="34" charset="0"/>
                <a:ea typeface="Calibri" pitchFamily="34" charset="-122"/>
                <a:cs typeface="Calibri" pitchFamily="34" charset="-120"/>
              </a:rPr>
              <a:t>Regulated industries</a:t>
            </a:r>
            <a:endParaRPr lang="en-US" sz="1200" dirty="0"/>
          </a:p>
          <a:p>
            <a:pPr indent="0" marL="0">
              <a:buNone/>
            </a:pPr>
            <a:r>
              <a:rPr lang="en-US" sz="1000" dirty="0">
                <a:solidFill>
                  <a:srgbClr val="8888A0"/>
                </a:solidFill>
                <a:latin typeface="Calibri" pitchFamily="34" charset="0"/>
                <a:ea typeface="Calibri" pitchFamily="34" charset="-122"/>
                <a:cs typeface="Calibri" pitchFamily="34" charset="-120"/>
              </a:rPr>
              <a:t>Finance, healthcare, legal — compliance mandates behavioral audit</a:t>
            </a:r>
            <a:endParaRPr lang="en-US" sz="1200" dirty="0"/>
          </a:p>
        </p:txBody>
      </p:sp>
      <p:sp>
        <p:nvSpPr>
          <p:cNvPr id="13" name="Shape 11"/>
          <p:cNvSpPr/>
          <p:nvPr/>
        </p:nvSpPr>
        <p:spPr>
          <a:xfrm>
            <a:off x="4754880" y="1645920"/>
            <a:ext cx="3657600" cy="2926080"/>
          </a:xfrm>
          <a:prstGeom prst="rect">
            <a:avLst/>
          </a:prstGeom>
          <a:solidFill>
            <a:srgbClr val="1A1A26"/>
          </a:solidFill>
          <a:ln w="6350">
            <a:solidFill>
              <a:srgbClr val="2A2A3A"/>
            </a:solidFill>
            <a:prstDash val="solid"/>
          </a:ln>
        </p:spPr>
      </p:sp>
      <p:sp>
        <p:nvSpPr>
          <p:cNvPr id="14" name="Text 12"/>
          <p:cNvSpPr/>
          <p:nvPr/>
        </p:nvSpPr>
        <p:spPr>
          <a:xfrm>
            <a:off x="4937760" y="1783080"/>
            <a:ext cx="3291840" cy="228600"/>
          </a:xfrm>
          <a:prstGeom prst="rect">
            <a:avLst/>
          </a:prstGeom>
          <a:noFill/>
          <a:ln/>
        </p:spPr>
        <p:txBody>
          <a:bodyPr wrap="square" lIns="0" tIns="0" rIns="0" bIns="0" rtlCol="0" anchor="ctr"/>
          <a:lstStyle/>
          <a:p>
            <a:pPr indent="0" marL="0">
              <a:buNone/>
            </a:pPr>
            <a:r>
              <a:rPr lang="en-US" sz="900" dirty="0">
                <a:solidFill>
                  <a:srgbClr val="22C55E"/>
                </a:solidFill>
                <a:latin typeface="Consolas" pitchFamily="34" charset="0"/>
                <a:ea typeface="Consolas" pitchFamily="34" charset="-122"/>
                <a:cs typeface="Consolas" pitchFamily="34" charset="-120"/>
              </a:rPr>
              <a:t>PRICING</a:t>
            </a:r>
            <a:endParaRPr lang="en-US" sz="900" dirty="0"/>
          </a:p>
        </p:txBody>
      </p:sp>
      <p:sp>
        <p:nvSpPr>
          <p:cNvPr id="15" name="Text 13"/>
          <p:cNvSpPr/>
          <p:nvPr/>
        </p:nvSpPr>
        <p:spPr>
          <a:xfrm>
            <a:off x="5029200" y="2148840"/>
            <a:ext cx="1463040" cy="22860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Developer</a:t>
            </a:r>
            <a:endParaRPr lang="en-US" sz="1200" dirty="0"/>
          </a:p>
        </p:txBody>
      </p:sp>
      <p:sp>
        <p:nvSpPr>
          <p:cNvPr id="16" name="Text 14"/>
          <p:cNvSpPr/>
          <p:nvPr/>
        </p:nvSpPr>
        <p:spPr>
          <a:xfrm>
            <a:off x="6583680" y="2148840"/>
            <a:ext cx="1463040" cy="228600"/>
          </a:xfrm>
          <a:prstGeom prst="rect">
            <a:avLst/>
          </a:prstGeom>
          <a:noFill/>
          <a:ln/>
        </p:spPr>
        <p:txBody>
          <a:bodyPr wrap="square" lIns="0" tIns="0" rIns="0" bIns="0" rtlCol="0" anchor="ctr"/>
          <a:lstStyle/>
          <a:p>
            <a:pPr algn="r" indent="0" marL="0">
              <a:buNone/>
            </a:pPr>
            <a:r>
              <a:rPr lang="en-US" sz="1200" dirty="0">
                <a:solidFill>
                  <a:srgbClr val="22C55E"/>
                </a:solidFill>
                <a:latin typeface="Consolas" pitchFamily="34" charset="0"/>
                <a:ea typeface="Consolas" pitchFamily="34" charset="-122"/>
                <a:cs typeface="Consolas" pitchFamily="34" charset="-120"/>
              </a:rPr>
              <a:t>$29-99/mo</a:t>
            </a:r>
            <a:endParaRPr lang="en-US" sz="1200" dirty="0"/>
          </a:p>
        </p:txBody>
      </p:sp>
      <p:sp>
        <p:nvSpPr>
          <p:cNvPr id="17" name="Text 15"/>
          <p:cNvSpPr/>
          <p:nvPr/>
        </p:nvSpPr>
        <p:spPr>
          <a:xfrm>
            <a:off x="5029200" y="2404872"/>
            <a:ext cx="3017520" cy="36576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Single endpoint, dashboard,</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C1-C4 output classifiers</a:t>
            </a:r>
            <a:endParaRPr lang="en-US" sz="900" dirty="0"/>
          </a:p>
        </p:txBody>
      </p:sp>
      <p:sp>
        <p:nvSpPr>
          <p:cNvPr id="18" name="Shape 16"/>
          <p:cNvSpPr/>
          <p:nvPr/>
        </p:nvSpPr>
        <p:spPr>
          <a:xfrm>
            <a:off x="5029200" y="2807208"/>
            <a:ext cx="3017520" cy="4572"/>
          </a:xfrm>
          <a:prstGeom prst="rect">
            <a:avLst/>
          </a:prstGeom>
          <a:solidFill>
            <a:srgbClr val="2A2A3A"/>
          </a:solidFill>
          <a:ln/>
        </p:spPr>
      </p:sp>
      <p:sp>
        <p:nvSpPr>
          <p:cNvPr id="19" name="Text 17"/>
          <p:cNvSpPr/>
          <p:nvPr/>
        </p:nvSpPr>
        <p:spPr>
          <a:xfrm>
            <a:off x="5029200" y="2926080"/>
            <a:ext cx="1463040" cy="22860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Team</a:t>
            </a:r>
            <a:endParaRPr lang="en-US" sz="1200" dirty="0"/>
          </a:p>
        </p:txBody>
      </p:sp>
      <p:sp>
        <p:nvSpPr>
          <p:cNvPr id="20" name="Text 18"/>
          <p:cNvSpPr/>
          <p:nvPr/>
        </p:nvSpPr>
        <p:spPr>
          <a:xfrm>
            <a:off x="6583680" y="2926080"/>
            <a:ext cx="1463040" cy="228600"/>
          </a:xfrm>
          <a:prstGeom prst="rect">
            <a:avLst/>
          </a:prstGeom>
          <a:noFill/>
          <a:ln/>
        </p:spPr>
        <p:txBody>
          <a:bodyPr wrap="square" lIns="0" tIns="0" rIns="0" bIns="0" rtlCol="0" anchor="ctr"/>
          <a:lstStyle/>
          <a:p>
            <a:pPr algn="r" indent="0" marL="0">
              <a:buNone/>
            </a:pPr>
            <a:r>
              <a:rPr lang="en-US" sz="1200" dirty="0">
                <a:solidFill>
                  <a:srgbClr val="22C55E"/>
                </a:solidFill>
                <a:latin typeface="Consolas" pitchFamily="34" charset="0"/>
                <a:ea typeface="Consolas" pitchFamily="34" charset="-122"/>
                <a:cs typeface="Consolas" pitchFamily="34" charset="-120"/>
              </a:rPr>
              <a:t>$199-499/mo</a:t>
            </a:r>
            <a:endParaRPr lang="en-US" sz="1200" dirty="0"/>
          </a:p>
        </p:txBody>
      </p:sp>
      <p:sp>
        <p:nvSpPr>
          <p:cNvPr id="21" name="Text 19"/>
          <p:cNvSpPr/>
          <p:nvPr/>
        </p:nvSpPr>
        <p:spPr>
          <a:xfrm>
            <a:off x="5029200" y="3182112"/>
            <a:ext cx="3017520" cy="36576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Multiple endpoints, alerts,</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C0 input classifier, SOC view</a:t>
            </a:r>
            <a:endParaRPr lang="en-US" sz="900" dirty="0"/>
          </a:p>
        </p:txBody>
      </p:sp>
      <p:sp>
        <p:nvSpPr>
          <p:cNvPr id="22" name="Shape 20"/>
          <p:cNvSpPr/>
          <p:nvPr/>
        </p:nvSpPr>
        <p:spPr>
          <a:xfrm>
            <a:off x="5029200" y="3584448"/>
            <a:ext cx="3017520" cy="4572"/>
          </a:xfrm>
          <a:prstGeom prst="rect">
            <a:avLst/>
          </a:prstGeom>
          <a:solidFill>
            <a:srgbClr val="2A2A3A"/>
          </a:solidFill>
          <a:ln/>
        </p:spPr>
      </p:sp>
      <p:sp>
        <p:nvSpPr>
          <p:cNvPr id="23" name="Text 21"/>
          <p:cNvSpPr/>
          <p:nvPr/>
        </p:nvSpPr>
        <p:spPr>
          <a:xfrm>
            <a:off x="5029200" y="3703320"/>
            <a:ext cx="1463040" cy="228600"/>
          </a:xfrm>
          <a:prstGeom prst="rect">
            <a:avLst/>
          </a:prstGeom>
          <a:noFill/>
          <a:ln/>
        </p:spPr>
        <p:txBody>
          <a:bodyPr wrap="square" lIns="0" tIns="0" rIns="0" bIns="0" rtlCol="0" anchor="ctr"/>
          <a:lstStyle/>
          <a:p>
            <a:pPr indent="0" marL="0">
              <a:buNone/>
            </a:pPr>
            <a:r>
              <a:rPr lang="en-US" sz="1200" b="1" dirty="0">
                <a:solidFill>
                  <a:srgbClr val="E8E8F0"/>
                </a:solidFill>
                <a:latin typeface="Georgia" pitchFamily="34" charset="0"/>
                <a:ea typeface="Georgia" pitchFamily="34" charset="-122"/>
                <a:cs typeface="Georgia" pitchFamily="34" charset="-120"/>
              </a:rPr>
              <a:t>Enterprise</a:t>
            </a:r>
            <a:endParaRPr lang="en-US" sz="1200" dirty="0"/>
          </a:p>
        </p:txBody>
      </p:sp>
      <p:sp>
        <p:nvSpPr>
          <p:cNvPr id="24" name="Text 22"/>
          <p:cNvSpPr/>
          <p:nvPr/>
        </p:nvSpPr>
        <p:spPr>
          <a:xfrm>
            <a:off x="6583680" y="3703320"/>
            <a:ext cx="1463040" cy="228600"/>
          </a:xfrm>
          <a:prstGeom prst="rect">
            <a:avLst/>
          </a:prstGeom>
          <a:noFill/>
          <a:ln/>
        </p:spPr>
        <p:txBody>
          <a:bodyPr wrap="square" lIns="0" tIns="0" rIns="0" bIns="0" rtlCol="0" anchor="ctr"/>
          <a:lstStyle/>
          <a:p>
            <a:pPr algn="r" indent="0" marL="0">
              <a:buNone/>
            </a:pPr>
            <a:r>
              <a:rPr lang="en-US" sz="1200" dirty="0">
                <a:solidFill>
                  <a:srgbClr val="22C55E"/>
                </a:solidFill>
                <a:latin typeface="Consolas" pitchFamily="34" charset="0"/>
                <a:ea typeface="Consolas" pitchFamily="34" charset="-122"/>
                <a:cs typeface="Consolas" pitchFamily="34" charset="-120"/>
              </a:rPr>
              <a:t>$500-2,000/mo</a:t>
            </a:r>
            <a:endParaRPr lang="en-US" sz="1200" dirty="0"/>
          </a:p>
        </p:txBody>
      </p:sp>
      <p:sp>
        <p:nvSpPr>
          <p:cNvPr id="25" name="Text 23"/>
          <p:cNvSpPr/>
          <p:nvPr/>
        </p:nvSpPr>
        <p:spPr>
          <a:xfrm>
            <a:off x="5029200" y="3959352"/>
            <a:ext cx="3017520" cy="365760"/>
          </a:xfrm>
          <a:prstGeom prst="rect">
            <a:avLst/>
          </a:prstGeom>
          <a:noFill/>
          <a:ln/>
        </p:spPr>
        <p:txBody>
          <a:bodyPr wrap="square" lIns="0" tIns="0" rIns="0" bIns="0" rtlCol="0" anchor="ctr"/>
          <a:lstStyle/>
          <a:p>
            <a:pPr indent="0" marL="0">
              <a:buNone/>
            </a:pPr>
            <a:r>
              <a:rPr lang="en-US" sz="900" dirty="0">
                <a:solidFill>
                  <a:srgbClr val="8888A0"/>
                </a:solidFill>
                <a:latin typeface="Calibri" pitchFamily="34" charset="0"/>
                <a:ea typeface="Calibri" pitchFamily="34" charset="-122"/>
                <a:cs typeface="Calibri" pitchFamily="34" charset="-120"/>
              </a:rPr>
              <a:t>Unlimited endpoints, SLA,</a:t>
            </a:r>
            <a:endParaRPr lang="en-US" sz="900" dirty="0"/>
          </a:p>
          <a:p>
            <a:pPr indent="0" marL="0">
              <a:buNone/>
            </a:pPr>
            <a:r>
              <a:rPr lang="en-US" sz="900" dirty="0">
                <a:solidFill>
                  <a:srgbClr val="8888A0"/>
                </a:solidFill>
                <a:latin typeface="Calibri" pitchFamily="34" charset="0"/>
                <a:ea typeface="Calibri" pitchFamily="34" charset="-122"/>
                <a:cs typeface="Calibri" pitchFamily="34" charset="-120"/>
              </a:rPr>
              <a:t>full Incongruence Matrix, SSO</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F">
              <a:alpha val="85000"/>
            </a:srgbClr>
          </a:solidFill>
          <a:ln/>
        </p:spPr>
      </p:sp>
      <p:sp>
        <p:nvSpPr>
          <p:cNvPr id="3" name="Shape 1"/>
          <p:cNvSpPr/>
          <p:nvPr/>
        </p:nvSpPr>
        <p:spPr>
          <a:xfrm>
            <a:off x="0" y="0"/>
            <a:ext cx="9144000" cy="18288"/>
          </a:xfrm>
          <a:prstGeom prst="rect">
            <a:avLst/>
          </a:prstGeom>
          <a:solidFill>
            <a:srgbClr val="22C55E"/>
          </a:solidFill>
          <a:ln/>
        </p:spPr>
      </p:sp>
      <p:sp>
        <p:nvSpPr>
          <p:cNvPr id="4" name="Text 2"/>
          <p:cNvSpPr/>
          <p:nvPr/>
        </p:nvSpPr>
        <p:spPr>
          <a:xfrm>
            <a:off x="731520" y="914400"/>
            <a:ext cx="7680960" cy="365760"/>
          </a:xfrm>
          <a:prstGeom prst="rect">
            <a:avLst/>
          </a:prstGeom>
          <a:noFill/>
          <a:ln/>
        </p:spPr>
        <p:txBody>
          <a:bodyPr wrap="square" lIns="0" tIns="0" rIns="0" bIns="0" rtlCol="0" anchor="ctr"/>
          <a:lstStyle/>
          <a:p>
            <a:pPr indent="0" marL="0">
              <a:buNone/>
            </a:pPr>
            <a:r>
              <a:rPr lang="en-US" sz="1100" spc="600" kern="0" dirty="0">
                <a:solidFill>
                  <a:srgbClr val="22C55E"/>
                </a:solidFill>
                <a:latin typeface="Consolas" pitchFamily="34" charset="0"/>
                <a:ea typeface="Consolas" pitchFamily="34" charset="-122"/>
                <a:cs typeface="Consolas" pitchFamily="34" charset="-120"/>
              </a:rPr>
              <a:t>SILICON PSYCHE LABS</a:t>
            </a:r>
            <a:endParaRPr lang="en-US" sz="1100" dirty="0"/>
          </a:p>
        </p:txBody>
      </p:sp>
      <p:sp>
        <p:nvSpPr>
          <p:cNvPr id="5" name="Text 3"/>
          <p:cNvSpPr/>
          <p:nvPr/>
        </p:nvSpPr>
        <p:spPr>
          <a:xfrm>
            <a:off x="731520" y="1554480"/>
            <a:ext cx="7315200" cy="1371600"/>
          </a:xfrm>
          <a:prstGeom prst="rect">
            <a:avLst/>
          </a:prstGeom>
          <a:noFill/>
          <a:ln/>
        </p:spPr>
        <p:txBody>
          <a:bodyPr wrap="square" lIns="0" tIns="0" rIns="0" bIns="0" rtlCol="0" anchor="ctr"/>
          <a:lstStyle/>
          <a:p>
            <a:pPr indent="0" marL="0">
              <a:buNone/>
            </a:pPr>
            <a:r>
              <a:rPr lang="en-US" sz="2800" b="1" dirty="0">
                <a:solidFill>
                  <a:srgbClr val="E8E8F0"/>
                </a:solidFill>
                <a:latin typeface="Georgia" pitchFamily="34" charset="0"/>
                <a:ea typeface="Georgia" pitchFamily="34" charset="-122"/>
                <a:cs typeface="Georgia" pitchFamily="34" charset="-120"/>
              </a:rPr>
              <a:t>The model is not good or bad.</a:t>
            </a:r>
            <a:endParaRPr lang="en-US" sz="2800" dirty="0"/>
          </a:p>
          <a:p>
            <a:pPr indent="0" marL="0">
              <a:buNone/>
            </a:pPr>
            <a:r>
              <a:rPr lang="en-US" sz="2800" b="1" dirty="0">
                <a:solidFill>
                  <a:srgbClr val="E8E8F0"/>
                </a:solidFill>
                <a:latin typeface="Georgia" pitchFamily="34" charset="0"/>
                <a:ea typeface="Georgia" pitchFamily="34" charset="-122"/>
                <a:cs typeface="Georgia" pitchFamily="34" charset="-120"/>
              </a:rPr>
              <a:t>It's powerful.</a:t>
            </a:r>
            <a:endParaRPr lang="en-US" sz="2800" dirty="0"/>
          </a:p>
          <a:p>
            <a:pPr indent="0" marL="0">
              <a:buNone/>
            </a:pPr>
            <a:r>
              <a:rPr lang="en-US" sz="2800" b="1" dirty="0">
                <a:solidFill>
                  <a:srgbClr val="E8E8F0"/>
                </a:solidFill>
                <a:latin typeface="Georgia" pitchFamily="34" charset="0"/>
                <a:ea typeface="Georgia" pitchFamily="34" charset="-122"/>
                <a:cs typeface="Georgia" pitchFamily="34" charset="-120"/>
              </a:rPr>
              <a:t>And power without observability is risk.</a:t>
            </a:r>
            <a:endParaRPr lang="en-US" sz="2800" dirty="0"/>
          </a:p>
        </p:txBody>
      </p:sp>
      <p:sp>
        <p:nvSpPr>
          <p:cNvPr id="6" name="Text 4"/>
          <p:cNvSpPr/>
          <p:nvPr/>
        </p:nvSpPr>
        <p:spPr>
          <a:xfrm>
            <a:off x="731520" y="3017520"/>
            <a:ext cx="7315200" cy="457200"/>
          </a:xfrm>
          <a:prstGeom prst="rect">
            <a:avLst/>
          </a:prstGeom>
          <a:noFill/>
          <a:ln/>
        </p:spPr>
        <p:txBody>
          <a:bodyPr wrap="square" lIns="0" tIns="0" rIns="0" bIns="0" rtlCol="0" anchor="ctr"/>
          <a:lstStyle/>
          <a:p>
            <a:pPr indent="0" marL="0">
              <a:buNone/>
            </a:pPr>
            <a:r>
              <a:rPr lang="en-US" sz="2200" dirty="0">
                <a:solidFill>
                  <a:srgbClr val="22C55E"/>
                </a:solidFill>
                <a:latin typeface="Georgia" pitchFamily="34" charset="0"/>
                <a:ea typeface="Georgia" pitchFamily="34" charset="-122"/>
                <a:cs typeface="Georgia" pitchFamily="34" charset="-120"/>
              </a:rPr>
              <a:t>We give you the observability.</a:t>
            </a:r>
            <a:endParaRPr lang="en-US" sz="2200" dirty="0"/>
          </a:p>
        </p:txBody>
      </p:sp>
      <p:sp>
        <p:nvSpPr>
          <p:cNvPr id="7" name="Shape 5"/>
          <p:cNvSpPr/>
          <p:nvPr/>
        </p:nvSpPr>
        <p:spPr>
          <a:xfrm>
            <a:off x="0" y="4206240"/>
            <a:ext cx="9144000" cy="9144"/>
          </a:xfrm>
          <a:prstGeom prst="rect">
            <a:avLst/>
          </a:prstGeom>
          <a:solidFill>
            <a:srgbClr val="2A2A3A"/>
          </a:solidFill>
          <a:ln/>
        </p:spPr>
      </p:sp>
      <p:sp>
        <p:nvSpPr>
          <p:cNvPr id="8" name="Text 6"/>
          <p:cNvSpPr/>
          <p:nvPr/>
        </p:nvSpPr>
        <p:spPr>
          <a:xfrm>
            <a:off x="731520" y="4343400"/>
            <a:ext cx="7680960" cy="274320"/>
          </a:xfrm>
          <a:prstGeom prst="rect">
            <a:avLst/>
          </a:prstGeom>
          <a:noFill/>
          <a:ln/>
        </p:spPr>
        <p:txBody>
          <a:bodyPr wrap="square" lIns="0" tIns="0" rIns="0" bIns="0" rtlCol="0" anchor="ctr"/>
          <a:lstStyle/>
          <a:p>
            <a:pPr indent="0" marL="0">
              <a:buNone/>
            </a:pPr>
            <a:r>
              <a:rPr lang="en-US" sz="900" dirty="0">
                <a:solidFill>
                  <a:srgbClr val="555568"/>
                </a:solidFill>
                <a:latin typeface="Consolas" pitchFamily="34" charset="0"/>
                <a:ea typeface="Consolas" pitchFamily="34" charset="-122"/>
                <a:cs typeface="Consolas" pitchFamily="34" charset="-120"/>
              </a:rPr>
              <a:t>g.canale@cpf3.org  ·  cpf3.org  ·  Silicon Psyche Labs, Turin, Italy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Silicon Psyche Labs — Behavioral Monitoring for LLMs</dc:title>
  <dc:subject>PptxGenJS Presentation</dc:subject>
  <dc:creator>Silicon Psyche Labs</dc:creator>
  <cp:lastModifiedBy>Silicon Psyche Labs</cp:lastModifiedBy>
  <cp:revision>1</cp:revision>
  <dcterms:created xsi:type="dcterms:W3CDTF">2026-03-27T16:14:59Z</dcterms:created>
  <dcterms:modified xsi:type="dcterms:W3CDTF">2026-03-27T16:14:59Z</dcterms:modified>
</cp:coreProperties>
</file>